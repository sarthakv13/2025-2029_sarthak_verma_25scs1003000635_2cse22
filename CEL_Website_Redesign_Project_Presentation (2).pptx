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10268712" y="329184"/>
            <a:ext cx="1133856" cy="1133856"/>
          </a:xfrm>
          <a:prstGeom prst="ellipse">
            <a:avLst/>
          </a:prstGeom>
          <a:solidFill>
            <a:srgbClr val="FFFFFF"/>
          </a:solidFill>
          <a:ln w="12700">
            <a:solidFill>
              <a:srgbClr val="2B3546"/>
            </a:solidFill>
            <a:prstDash val="solid"/>
          </a:ln>
          <a:effectLst>
            <a:outerShdw sx="100000" sy="100000" kx="0" ky="0" algn="bl" rotWithShape="0" blurRad="101600" dist="38100" dir="5400000">
              <a:srgbClr val="000000">
                <a:alpha val="35000"/>
              </a:srgbClr>
            </a:outerShdw>
          </a:effectLst>
        </p:spPr>
      </p:sp>
      <p:pic>
        <p:nvPicPr>
          <p:cNvPr id="3" name="Image 0" descr="/home/claude/cel_ppt/cel_logo.png">    </p:cNvPr>
          <p:cNvPicPr>
            <a:picLocks noChangeAspect="1"/>
          </p:cNvPicPr>
          <p:nvPr/>
        </p:nvPicPr>
        <p:blipFill>
          <a:blip r:embed="rId1"/>
          <a:stretch>
            <a:fillRect/>
          </a:stretch>
        </p:blipFill>
        <p:spPr>
          <a:xfrm>
            <a:off x="10360152" y="420624"/>
            <a:ext cx="950976" cy="950976"/>
          </a:xfrm>
          <a:prstGeom prst="rect">
            <a:avLst/>
          </a:prstGeom>
        </p:spPr>
      </p:pic>
      <p:sp>
        <p:nvSpPr>
          <p:cNvPr id="4" name="Text 1"/>
          <p:cNvSpPr/>
          <p:nvPr/>
        </p:nvSpPr>
        <p:spPr>
          <a:xfrm>
            <a:off x="731520" y="1371600"/>
            <a:ext cx="10515600" cy="365760"/>
          </a:xfrm>
          <a:prstGeom prst="rect">
            <a:avLst/>
          </a:prstGeom>
          <a:noFill/>
          <a:ln/>
        </p:spPr>
        <p:txBody>
          <a:bodyPr wrap="square" lIns="0" tIns="0" rIns="0" bIns="0" rtlCol="0" anchor="ctr"/>
          <a:lstStyle/>
          <a:p>
            <a:pPr indent="0" marL="0">
              <a:buNone/>
            </a:pPr>
            <a:r>
              <a:rPr lang="en-US" sz="1300" b="1" spc="200" kern="0" dirty="0">
                <a:solidFill>
                  <a:srgbClr val="2DD4BF"/>
                </a:solidFill>
                <a:latin typeface="Calibri" pitchFamily="34" charset="0"/>
                <a:ea typeface="Calibri" pitchFamily="34" charset="-122"/>
                <a:cs typeface="Calibri" pitchFamily="34" charset="-120"/>
              </a:rPr>
              <a:t>GOVERNMENT OF INDIA ENTERPRISE  •  CENTRAL ELECTRONICS LIMITED</a:t>
            </a:r>
            <a:endParaRPr lang="en-US" sz="1300" dirty="0"/>
          </a:p>
        </p:txBody>
      </p:sp>
      <p:sp>
        <p:nvSpPr>
          <p:cNvPr id="5" name="Text 2"/>
          <p:cNvSpPr/>
          <p:nvPr/>
        </p:nvSpPr>
        <p:spPr>
          <a:xfrm>
            <a:off x="731520" y="1874520"/>
            <a:ext cx="10698480" cy="914400"/>
          </a:xfrm>
          <a:prstGeom prst="rect">
            <a:avLst/>
          </a:prstGeom>
          <a:noFill/>
          <a:ln/>
        </p:spPr>
        <p:txBody>
          <a:bodyPr wrap="square" lIns="0" tIns="0" rIns="0" bIns="0" rtlCol="0" anchor="ctr"/>
          <a:lstStyle/>
          <a:p>
            <a:pPr indent="0" marL="0">
              <a:buNone/>
            </a:pPr>
            <a:r>
              <a:rPr lang="en-US" sz="4600" b="1" dirty="0">
                <a:solidFill>
                  <a:srgbClr val="F5F7FA"/>
                </a:solidFill>
                <a:latin typeface="Cambria" pitchFamily="34" charset="0"/>
                <a:ea typeface="Cambria" pitchFamily="34" charset="-122"/>
                <a:cs typeface="Cambria" pitchFamily="34" charset="-120"/>
              </a:rPr>
              <a:t>CEL Website Redesign</a:t>
            </a:r>
            <a:endParaRPr lang="en-US" sz="4600" dirty="0"/>
          </a:p>
        </p:txBody>
      </p:sp>
      <p:sp>
        <p:nvSpPr>
          <p:cNvPr id="6" name="Text 3"/>
          <p:cNvSpPr/>
          <p:nvPr/>
        </p:nvSpPr>
        <p:spPr>
          <a:xfrm>
            <a:off x="731520" y="2697480"/>
            <a:ext cx="10698480" cy="548640"/>
          </a:xfrm>
          <a:prstGeom prst="rect">
            <a:avLst/>
          </a:prstGeom>
          <a:noFill/>
          <a:ln/>
        </p:spPr>
        <p:txBody>
          <a:bodyPr wrap="square" lIns="0" tIns="0" rIns="0" bIns="0" rtlCol="0" anchor="ctr"/>
          <a:lstStyle/>
          <a:p>
            <a:pPr indent="0" marL="0">
              <a:buNone/>
            </a:pPr>
            <a:r>
              <a:rPr lang="en-US" sz="2200" dirty="0">
                <a:solidFill>
                  <a:srgbClr val="94A3B8"/>
                </a:solidFill>
                <a:latin typeface="Calibri" pitchFamily="34" charset="0"/>
                <a:ea typeface="Calibri" pitchFamily="34" charset="-122"/>
                <a:cs typeface="Calibri" pitchFamily="34" charset="-120"/>
              </a:rPr>
              <a:t>with OTP Authentication &amp; Complaint Management System</a:t>
            </a:r>
            <a:endParaRPr lang="en-US" sz="2200" dirty="0"/>
          </a:p>
        </p:txBody>
      </p:sp>
      <p:sp>
        <p:nvSpPr>
          <p:cNvPr id="7" name="Shape 4"/>
          <p:cNvSpPr/>
          <p:nvPr/>
        </p:nvSpPr>
        <p:spPr>
          <a:xfrm>
            <a:off x="749808" y="3429000"/>
            <a:ext cx="2926080" cy="0"/>
          </a:xfrm>
          <a:prstGeom prst="line">
            <a:avLst/>
          </a:prstGeom>
          <a:noFill/>
          <a:ln w="25400">
            <a:solidFill>
              <a:srgbClr val="2DD4BF"/>
            </a:solidFill>
            <a:prstDash val="solid"/>
          </a:ln>
        </p:spPr>
      </p:sp>
      <p:sp>
        <p:nvSpPr>
          <p:cNvPr id="8" name="Shape 5"/>
          <p:cNvSpPr/>
          <p:nvPr/>
        </p:nvSpPr>
        <p:spPr>
          <a:xfrm>
            <a:off x="731520" y="3794760"/>
            <a:ext cx="5120640" cy="2194560"/>
          </a:xfrm>
          <a:prstGeom prst="roundRect">
            <a:avLst>
              <a:gd name="adj" fmla="val 3333"/>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9" name="Text 6"/>
          <p:cNvSpPr/>
          <p:nvPr/>
        </p:nvSpPr>
        <p:spPr>
          <a:xfrm>
            <a:off x="1005840" y="3977640"/>
            <a:ext cx="4572000" cy="320040"/>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Internship Project Report</a:t>
            </a:r>
            <a:endParaRPr lang="en-US" sz="1300" dirty="0"/>
          </a:p>
        </p:txBody>
      </p:sp>
      <p:sp>
        <p:nvSpPr>
          <p:cNvPr id="10" name="Text 7"/>
          <p:cNvSpPr/>
          <p:nvPr/>
        </p:nvSpPr>
        <p:spPr>
          <a:xfrm>
            <a:off x="1005840" y="4370832"/>
            <a:ext cx="155448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Submitted by</a:t>
            </a:r>
            <a:endParaRPr lang="en-US" sz="1150" dirty="0"/>
          </a:p>
        </p:txBody>
      </p:sp>
      <p:sp>
        <p:nvSpPr>
          <p:cNvPr id="11" name="Text 8"/>
          <p:cNvSpPr/>
          <p:nvPr/>
        </p:nvSpPr>
        <p:spPr>
          <a:xfrm>
            <a:off x="2560320" y="4370832"/>
            <a:ext cx="3108960" cy="2926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Sarthak Verma, Intern</a:t>
            </a:r>
            <a:endParaRPr lang="en-US" sz="1150" dirty="0"/>
          </a:p>
        </p:txBody>
      </p:sp>
      <p:sp>
        <p:nvSpPr>
          <p:cNvPr id="12" name="Text 9"/>
          <p:cNvSpPr/>
          <p:nvPr/>
        </p:nvSpPr>
        <p:spPr>
          <a:xfrm>
            <a:off x="1005840" y="4677156"/>
            <a:ext cx="155448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Organization</a:t>
            </a:r>
            <a:endParaRPr lang="en-US" sz="1150" dirty="0"/>
          </a:p>
        </p:txBody>
      </p:sp>
      <p:sp>
        <p:nvSpPr>
          <p:cNvPr id="13" name="Text 10"/>
          <p:cNvSpPr/>
          <p:nvPr/>
        </p:nvSpPr>
        <p:spPr>
          <a:xfrm>
            <a:off x="2560320" y="4677156"/>
            <a:ext cx="3108960" cy="2926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Central Electronics Limited (CEL), Ghaziabad</a:t>
            </a:r>
            <a:endParaRPr lang="en-US" sz="1150" dirty="0"/>
          </a:p>
        </p:txBody>
      </p:sp>
      <p:sp>
        <p:nvSpPr>
          <p:cNvPr id="14" name="Text 11"/>
          <p:cNvSpPr/>
          <p:nvPr/>
        </p:nvSpPr>
        <p:spPr>
          <a:xfrm>
            <a:off x="1005840" y="4983480"/>
            <a:ext cx="155448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Submitted to</a:t>
            </a:r>
            <a:endParaRPr lang="en-US" sz="1150" dirty="0"/>
          </a:p>
        </p:txBody>
      </p:sp>
      <p:sp>
        <p:nvSpPr>
          <p:cNvPr id="15" name="Text 12"/>
          <p:cNvSpPr/>
          <p:nvPr/>
        </p:nvSpPr>
        <p:spPr>
          <a:xfrm>
            <a:off x="2560320" y="4983480"/>
            <a:ext cx="3108960" cy="2926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Uma Ma'am</a:t>
            </a:r>
            <a:endParaRPr lang="en-US" sz="1150" dirty="0"/>
          </a:p>
        </p:txBody>
      </p:sp>
      <p:sp>
        <p:nvSpPr>
          <p:cNvPr id="16" name="Text 13"/>
          <p:cNvSpPr/>
          <p:nvPr/>
        </p:nvSpPr>
        <p:spPr>
          <a:xfrm>
            <a:off x="1005840" y="5289804"/>
            <a:ext cx="155448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Domain</a:t>
            </a:r>
            <a:endParaRPr lang="en-US" sz="1150" dirty="0"/>
          </a:p>
        </p:txBody>
      </p:sp>
      <p:sp>
        <p:nvSpPr>
          <p:cNvPr id="17" name="Text 14"/>
          <p:cNvSpPr/>
          <p:nvPr/>
        </p:nvSpPr>
        <p:spPr>
          <a:xfrm>
            <a:off x="2560320" y="5289804"/>
            <a:ext cx="3108960" cy="2926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Information Technology / Web Application Dev.</a:t>
            </a:r>
            <a:endParaRPr lang="en-US" sz="1150" dirty="0"/>
          </a:p>
        </p:txBody>
      </p:sp>
      <p:sp>
        <p:nvSpPr>
          <p:cNvPr id="18" name="Text 15"/>
          <p:cNvSpPr/>
          <p:nvPr/>
        </p:nvSpPr>
        <p:spPr>
          <a:xfrm>
            <a:off x="1005840" y="5596128"/>
            <a:ext cx="1554480" cy="292608"/>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Submission</a:t>
            </a:r>
            <a:endParaRPr lang="en-US" sz="1150" dirty="0"/>
          </a:p>
        </p:txBody>
      </p:sp>
      <p:sp>
        <p:nvSpPr>
          <p:cNvPr id="19" name="Text 16"/>
          <p:cNvSpPr/>
          <p:nvPr/>
        </p:nvSpPr>
        <p:spPr>
          <a:xfrm>
            <a:off x="2560320" y="5596128"/>
            <a:ext cx="3108960" cy="2926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July 2026</a:t>
            </a:r>
            <a:endParaRPr lang="en-US" sz="1150" dirty="0"/>
          </a:p>
        </p:txBody>
      </p:sp>
      <p:sp>
        <p:nvSpPr>
          <p:cNvPr id="20" name="Shape 17"/>
          <p:cNvSpPr/>
          <p:nvPr/>
        </p:nvSpPr>
        <p:spPr>
          <a:xfrm>
            <a:off x="6126480" y="3794760"/>
            <a:ext cx="5330952" cy="2194560"/>
          </a:xfrm>
          <a:prstGeom prst="roundRect">
            <a:avLst>
              <a:gd name="adj" fmla="val 3333"/>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1" name="Text 18"/>
          <p:cNvSpPr/>
          <p:nvPr/>
        </p:nvSpPr>
        <p:spPr>
          <a:xfrm>
            <a:off x="6400800" y="3977640"/>
            <a:ext cx="4572000" cy="320040"/>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Tech Stack Snapshot</a:t>
            </a:r>
            <a:endParaRPr lang="en-US" sz="1300" dirty="0"/>
          </a:p>
        </p:txBody>
      </p:sp>
      <p:sp>
        <p:nvSpPr>
          <p:cNvPr id="22" name="Shape 19"/>
          <p:cNvSpPr/>
          <p:nvPr/>
        </p:nvSpPr>
        <p:spPr>
          <a:xfrm>
            <a:off x="6400800" y="4434840"/>
            <a:ext cx="759866" cy="347472"/>
          </a:xfrm>
          <a:prstGeom prst="roundRect">
            <a:avLst>
              <a:gd name="adj" fmla="val 50000"/>
            </a:avLst>
          </a:prstGeom>
          <a:solidFill>
            <a:srgbClr val="111827"/>
          </a:solidFill>
          <a:ln w="12700">
            <a:solidFill>
              <a:srgbClr val="2B3546"/>
            </a:solidFill>
            <a:prstDash val="solid"/>
          </a:ln>
        </p:spPr>
      </p:sp>
      <p:sp>
        <p:nvSpPr>
          <p:cNvPr id="23" name="Text 20"/>
          <p:cNvSpPr/>
          <p:nvPr/>
        </p:nvSpPr>
        <p:spPr>
          <a:xfrm>
            <a:off x="6400800" y="4434840"/>
            <a:ext cx="759866" cy="347472"/>
          </a:xfrm>
          <a:prstGeom prst="rect">
            <a:avLst/>
          </a:prstGeom>
          <a:noFill/>
          <a:ln/>
        </p:spPr>
        <p:txBody>
          <a:bodyPr wrap="square" lIns="0" tIns="0" rIns="0" bIns="0" rtlCol="0" anchor="ctr"/>
          <a:lstStyle/>
          <a:p>
            <a:pPr algn="ctr" indent="0" marL="0">
              <a:buNone/>
            </a:pPr>
            <a:r>
              <a:rPr lang="en-US" sz="1050" dirty="0">
                <a:solidFill>
                  <a:srgbClr val="F5F7FA"/>
                </a:solidFill>
                <a:latin typeface="Calibri" pitchFamily="34" charset="0"/>
                <a:ea typeface="Calibri" pitchFamily="34" charset="-122"/>
                <a:cs typeface="Calibri" pitchFamily="34" charset="-120"/>
              </a:rPr>
              <a:t>Node.js</a:t>
            </a:r>
            <a:endParaRPr lang="en-US" sz="1050" dirty="0"/>
          </a:p>
        </p:txBody>
      </p:sp>
      <p:sp>
        <p:nvSpPr>
          <p:cNvPr id="24" name="Shape 21"/>
          <p:cNvSpPr/>
          <p:nvPr/>
        </p:nvSpPr>
        <p:spPr>
          <a:xfrm>
            <a:off x="7297826" y="4434840"/>
            <a:ext cx="759866" cy="347472"/>
          </a:xfrm>
          <a:prstGeom prst="roundRect">
            <a:avLst>
              <a:gd name="adj" fmla="val 50000"/>
            </a:avLst>
          </a:prstGeom>
          <a:solidFill>
            <a:srgbClr val="111827"/>
          </a:solidFill>
          <a:ln w="12700">
            <a:solidFill>
              <a:srgbClr val="2B3546"/>
            </a:solidFill>
            <a:prstDash val="solid"/>
          </a:ln>
        </p:spPr>
      </p:sp>
      <p:sp>
        <p:nvSpPr>
          <p:cNvPr id="25" name="Text 22"/>
          <p:cNvSpPr/>
          <p:nvPr/>
        </p:nvSpPr>
        <p:spPr>
          <a:xfrm>
            <a:off x="7297826" y="4434840"/>
            <a:ext cx="759866" cy="347472"/>
          </a:xfrm>
          <a:prstGeom prst="rect">
            <a:avLst/>
          </a:prstGeom>
          <a:noFill/>
          <a:ln/>
        </p:spPr>
        <p:txBody>
          <a:bodyPr wrap="square" lIns="0" tIns="0" rIns="0" bIns="0" rtlCol="0" anchor="ctr"/>
          <a:lstStyle/>
          <a:p>
            <a:pPr algn="ctr" indent="0" marL="0">
              <a:buNone/>
            </a:pPr>
            <a:r>
              <a:rPr lang="en-US" sz="1050" dirty="0">
                <a:solidFill>
                  <a:srgbClr val="F5F7FA"/>
                </a:solidFill>
                <a:latin typeface="Calibri" pitchFamily="34" charset="0"/>
                <a:ea typeface="Calibri" pitchFamily="34" charset="-122"/>
                <a:cs typeface="Calibri" pitchFamily="34" charset="-120"/>
              </a:rPr>
              <a:t>Express</a:t>
            </a:r>
            <a:endParaRPr lang="en-US" sz="1050" dirty="0"/>
          </a:p>
        </p:txBody>
      </p:sp>
      <p:sp>
        <p:nvSpPr>
          <p:cNvPr id="26" name="Shape 23"/>
          <p:cNvSpPr/>
          <p:nvPr/>
        </p:nvSpPr>
        <p:spPr>
          <a:xfrm>
            <a:off x="8194853" y="4434840"/>
            <a:ext cx="2120494" cy="347472"/>
          </a:xfrm>
          <a:prstGeom prst="roundRect">
            <a:avLst>
              <a:gd name="adj" fmla="val 50000"/>
            </a:avLst>
          </a:prstGeom>
          <a:solidFill>
            <a:srgbClr val="111827"/>
          </a:solidFill>
          <a:ln w="12700">
            <a:solidFill>
              <a:srgbClr val="2B3546"/>
            </a:solidFill>
            <a:prstDash val="solid"/>
          </a:ln>
        </p:spPr>
      </p:sp>
      <p:sp>
        <p:nvSpPr>
          <p:cNvPr id="27" name="Text 24"/>
          <p:cNvSpPr/>
          <p:nvPr/>
        </p:nvSpPr>
        <p:spPr>
          <a:xfrm>
            <a:off x="8194853" y="4434840"/>
            <a:ext cx="2120494" cy="347472"/>
          </a:xfrm>
          <a:prstGeom prst="rect">
            <a:avLst/>
          </a:prstGeom>
          <a:noFill/>
          <a:ln/>
        </p:spPr>
        <p:txBody>
          <a:bodyPr wrap="square" lIns="0" tIns="0" rIns="0" bIns="0" rtlCol="0" anchor="ctr"/>
          <a:lstStyle/>
          <a:p>
            <a:pPr algn="ctr" indent="0" marL="0">
              <a:buNone/>
            </a:pPr>
            <a:r>
              <a:rPr lang="en-US" sz="1050" dirty="0">
                <a:solidFill>
                  <a:srgbClr val="F5F7FA"/>
                </a:solidFill>
                <a:latin typeface="Calibri" pitchFamily="34" charset="0"/>
                <a:ea typeface="Calibri" pitchFamily="34" charset="-122"/>
                <a:cs typeface="Calibri" pitchFamily="34" charset="-120"/>
              </a:rPr>
              <a:t>SQLite / better-sqlite3</a:t>
            </a:r>
            <a:endParaRPr lang="en-US" sz="1050" dirty="0"/>
          </a:p>
        </p:txBody>
      </p:sp>
      <p:sp>
        <p:nvSpPr>
          <p:cNvPr id="28" name="Shape 25"/>
          <p:cNvSpPr/>
          <p:nvPr/>
        </p:nvSpPr>
        <p:spPr>
          <a:xfrm>
            <a:off x="10452506" y="4434840"/>
            <a:ext cx="674827" cy="347472"/>
          </a:xfrm>
          <a:prstGeom prst="roundRect">
            <a:avLst>
              <a:gd name="adj" fmla="val 50000"/>
            </a:avLst>
          </a:prstGeom>
          <a:solidFill>
            <a:srgbClr val="111827"/>
          </a:solidFill>
          <a:ln w="12700">
            <a:solidFill>
              <a:srgbClr val="2B3546"/>
            </a:solidFill>
            <a:prstDash val="solid"/>
          </a:ln>
        </p:spPr>
      </p:sp>
      <p:sp>
        <p:nvSpPr>
          <p:cNvPr id="29" name="Text 26"/>
          <p:cNvSpPr/>
          <p:nvPr/>
        </p:nvSpPr>
        <p:spPr>
          <a:xfrm>
            <a:off x="10452506" y="4434840"/>
            <a:ext cx="674827" cy="347472"/>
          </a:xfrm>
          <a:prstGeom prst="rect">
            <a:avLst/>
          </a:prstGeom>
          <a:noFill/>
          <a:ln/>
        </p:spPr>
        <p:txBody>
          <a:bodyPr wrap="square" lIns="0" tIns="0" rIns="0" bIns="0" rtlCol="0" anchor="ctr"/>
          <a:lstStyle/>
          <a:p>
            <a:pPr algn="ctr" indent="0" marL="0">
              <a:buNone/>
            </a:pPr>
            <a:r>
              <a:rPr lang="en-US" sz="1050" dirty="0">
                <a:solidFill>
                  <a:srgbClr val="F5F7FA"/>
                </a:solidFill>
                <a:latin typeface="Calibri" pitchFamily="34" charset="0"/>
                <a:ea typeface="Calibri" pitchFamily="34" charset="-122"/>
                <a:cs typeface="Calibri" pitchFamily="34" charset="-120"/>
              </a:rPr>
              <a:t>bcrypt</a:t>
            </a:r>
            <a:endParaRPr lang="en-US" sz="1050" dirty="0"/>
          </a:p>
        </p:txBody>
      </p:sp>
      <p:sp>
        <p:nvSpPr>
          <p:cNvPr id="30" name="Shape 27"/>
          <p:cNvSpPr/>
          <p:nvPr/>
        </p:nvSpPr>
        <p:spPr>
          <a:xfrm>
            <a:off x="6400800" y="4892040"/>
            <a:ext cx="1355141" cy="347472"/>
          </a:xfrm>
          <a:prstGeom prst="roundRect">
            <a:avLst>
              <a:gd name="adj" fmla="val 50000"/>
            </a:avLst>
          </a:prstGeom>
          <a:solidFill>
            <a:srgbClr val="111827"/>
          </a:solidFill>
          <a:ln w="12700">
            <a:solidFill>
              <a:srgbClr val="2B3546"/>
            </a:solidFill>
            <a:prstDash val="solid"/>
          </a:ln>
        </p:spPr>
      </p:sp>
      <p:sp>
        <p:nvSpPr>
          <p:cNvPr id="31" name="Text 28"/>
          <p:cNvSpPr/>
          <p:nvPr/>
        </p:nvSpPr>
        <p:spPr>
          <a:xfrm>
            <a:off x="6400800" y="4892040"/>
            <a:ext cx="1355141" cy="347472"/>
          </a:xfrm>
          <a:prstGeom prst="rect">
            <a:avLst/>
          </a:prstGeom>
          <a:noFill/>
          <a:ln/>
        </p:spPr>
        <p:txBody>
          <a:bodyPr wrap="square" lIns="0" tIns="0" rIns="0" bIns="0" rtlCol="0" anchor="ctr"/>
          <a:lstStyle/>
          <a:p>
            <a:pPr algn="ctr" indent="0" marL="0">
              <a:buNone/>
            </a:pPr>
            <a:r>
              <a:rPr lang="en-US" sz="1050" dirty="0">
                <a:solidFill>
                  <a:srgbClr val="F5F7FA"/>
                </a:solidFill>
                <a:latin typeface="Calibri" pitchFamily="34" charset="0"/>
                <a:ea typeface="Calibri" pitchFamily="34" charset="-122"/>
                <a:cs typeface="Calibri" pitchFamily="34" charset="-120"/>
              </a:rPr>
              <a:t>Nodemailer OTP</a:t>
            </a:r>
            <a:endParaRPr lang="en-US" sz="1050" dirty="0"/>
          </a:p>
        </p:txBody>
      </p:sp>
      <p:sp>
        <p:nvSpPr>
          <p:cNvPr id="32" name="Shape 29"/>
          <p:cNvSpPr/>
          <p:nvPr/>
        </p:nvSpPr>
        <p:spPr>
          <a:xfrm>
            <a:off x="7893101" y="4892040"/>
            <a:ext cx="674827" cy="347472"/>
          </a:xfrm>
          <a:prstGeom prst="roundRect">
            <a:avLst>
              <a:gd name="adj" fmla="val 50000"/>
            </a:avLst>
          </a:prstGeom>
          <a:solidFill>
            <a:srgbClr val="111827"/>
          </a:solidFill>
          <a:ln w="12700">
            <a:solidFill>
              <a:srgbClr val="2B3546"/>
            </a:solidFill>
            <a:prstDash val="solid"/>
          </a:ln>
        </p:spPr>
      </p:sp>
      <p:sp>
        <p:nvSpPr>
          <p:cNvPr id="33" name="Text 30"/>
          <p:cNvSpPr/>
          <p:nvPr/>
        </p:nvSpPr>
        <p:spPr>
          <a:xfrm>
            <a:off x="7893101" y="4892040"/>
            <a:ext cx="674827" cy="347472"/>
          </a:xfrm>
          <a:prstGeom prst="rect">
            <a:avLst/>
          </a:prstGeom>
          <a:noFill/>
          <a:ln/>
        </p:spPr>
        <p:txBody>
          <a:bodyPr wrap="square" lIns="0" tIns="0" rIns="0" bIns="0" rtlCol="0" anchor="ctr"/>
          <a:lstStyle/>
          <a:p>
            <a:pPr algn="ctr" indent="0" marL="0">
              <a:buNone/>
            </a:pPr>
            <a:r>
              <a:rPr lang="en-US" sz="1050" dirty="0">
                <a:solidFill>
                  <a:srgbClr val="F5F7FA"/>
                </a:solidFill>
                <a:latin typeface="Calibri" pitchFamily="34" charset="0"/>
                <a:ea typeface="Calibri" pitchFamily="34" charset="-122"/>
                <a:cs typeface="Calibri" pitchFamily="34" charset="-120"/>
              </a:rPr>
              <a:t>Helmet</a:t>
            </a:r>
            <a:endParaRPr lang="en-US" sz="1050" dirty="0"/>
          </a:p>
        </p:txBody>
      </p:sp>
      <p:sp>
        <p:nvSpPr>
          <p:cNvPr id="34" name="Shape 31"/>
          <p:cNvSpPr/>
          <p:nvPr/>
        </p:nvSpPr>
        <p:spPr>
          <a:xfrm>
            <a:off x="8705088" y="4892040"/>
            <a:ext cx="1440180" cy="347472"/>
          </a:xfrm>
          <a:prstGeom prst="roundRect">
            <a:avLst>
              <a:gd name="adj" fmla="val 50000"/>
            </a:avLst>
          </a:prstGeom>
          <a:solidFill>
            <a:srgbClr val="111827"/>
          </a:solidFill>
          <a:ln w="12700">
            <a:solidFill>
              <a:srgbClr val="2B3546"/>
            </a:solidFill>
            <a:prstDash val="solid"/>
          </a:ln>
        </p:spPr>
      </p:sp>
      <p:sp>
        <p:nvSpPr>
          <p:cNvPr id="35" name="Text 32"/>
          <p:cNvSpPr/>
          <p:nvPr/>
        </p:nvSpPr>
        <p:spPr>
          <a:xfrm>
            <a:off x="8705088" y="4892040"/>
            <a:ext cx="1440180" cy="347472"/>
          </a:xfrm>
          <a:prstGeom prst="rect">
            <a:avLst/>
          </a:prstGeom>
          <a:noFill/>
          <a:ln/>
        </p:spPr>
        <p:txBody>
          <a:bodyPr wrap="square" lIns="0" tIns="0" rIns="0" bIns="0" rtlCol="0" anchor="ctr"/>
          <a:lstStyle/>
          <a:p>
            <a:pPr algn="ctr" indent="0" marL="0">
              <a:buNone/>
            </a:pPr>
            <a:r>
              <a:rPr lang="en-US" sz="1050" dirty="0">
                <a:solidFill>
                  <a:srgbClr val="F5F7FA"/>
                </a:solidFill>
                <a:latin typeface="Calibri" pitchFamily="34" charset="0"/>
                <a:ea typeface="Calibri" pitchFamily="34" charset="-122"/>
                <a:cs typeface="Calibri" pitchFamily="34" charset="-120"/>
              </a:rPr>
              <a:t>Sessions &amp; RBAC</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INDEX</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What This Deck Covers</a:t>
            </a:r>
            <a:endParaRPr lang="en-US" sz="3000" dirty="0"/>
          </a:p>
        </p:txBody>
      </p:sp>
      <p:sp>
        <p:nvSpPr>
          <p:cNvPr id="4" name="Shape 2"/>
          <p:cNvSpPr/>
          <p:nvPr/>
        </p:nvSpPr>
        <p:spPr>
          <a:xfrm>
            <a:off x="548640" y="1508760"/>
            <a:ext cx="5349240" cy="512064"/>
          </a:xfrm>
          <a:prstGeom prst="rect">
            <a:avLst/>
          </a:prstGeom>
          <a:solidFill>
            <a:srgbClr val="18202F"/>
          </a:solidFill>
          <a:ln/>
        </p:spPr>
      </p:sp>
      <p:sp>
        <p:nvSpPr>
          <p:cNvPr id="5" name="Text 3"/>
          <p:cNvSpPr/>
          <p:nvPr/>
        </p:nvSpPr>
        <p:spPr>
          <a:xfrm>
            <a:off x="685800" y="1508760"/>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01</a:t>
            </a:r>
            <a:endParaRPr lang="en-US" sz="1300" dirty="0"/>
          </a:p>
        </p:txBody>
      </p:sp>
      <p:sp>
        <p:nvSpPr>
          <p:cNvPr id="6" name="Text 4"/>
          <p:cNvSpPr/>
          <p:nvPr/>
        </p:nvSpPr>
        <p:spPr>
          <a:xfrm>
            <a:off x="1280160" y="1508760"/>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Organization Profile</a:t>
            </a:r>
            <a:endParaRPr lang="en-US" sz="1300" dirty="0"/>
          </a:p>
        </p:txBody>
      </p:sp>
      <p:sp>
        <p:nvSpPr>
          <p:cNvPr id="7" name="Text 5"/>
          <p:cNvSpPr/>
          <p:nvPr/>
        </p:nvSpPr>
        <p:spPr>
          <a:xfrm>
            <a:off x="4892040" y="1508760"/>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3</a:t>
            </a:r>
            <a:endParaRPr lang="en-US" sz="1100" dirty="0"/>
          </a:p>
        </p:txBody>
      </p:sp>
      <p:sp>
        <p:nvSpPr>
          <p:cNvPr id="8" name="Shape 6"/>
          <p:cNvSpPr/>
          <p:nvPr/>
        </p:nvSpPr>
        <p:spPr>
          <a:xfrm>
            <a:off x="6263640" y="1508760"/>
            <a:ext cx="5349240" cy="512064"/>
          </a:xfrm>
          <a:prstGeom prst="rect">
            <a:avLst/>
          </a:prstGeom>
          <a:solidFill>
            <a:srgbClr val="18202F"/>
          </a:solidFill>
          <a:ln/>
        </p:spPr>
      </p:sp>
      <p:sp>
        <p:nvSpPr>
          <p:cNvPr id="9" name="Text 7"/>
          <p:cNvSpPr/>
          <p:nvPr/>
        </p:nvSpPr>
        <p:spPr>
          <a:xfrm>
            <a:off x="6400800" y="1508760"/>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02</a:t>
            </a:r>
            <a:endParaRPr lang="en-US" sz="1300" dirty="0"/>
          </a:p>
        </p:txBody>
      </p:sp>
      <p:sp>
        <p:nvSpPr>
          <p:cNvPr id="10" name="Text 8"/>
          <p:cNvSpPr/>
          <p:nvPr/>
        </p:nvSpPr>
        <p:spPr>
          <a:xfrm>
            <a:off x="6995160" y="1508760"/>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Project Overview</a:t>
            </a:r>
            <a:endParaRPr lang="en-US" sz="1300" dirty="0"/>
          </a:p>
        </p:txBody>
      </p:sp>
      <p:sp>
        <p:nvSpPr>
          <p:cNvPr id="11" name="Text 9"/>
          <p:cNvSpPr/>
          <p:nvPr/>
        </p:nvSpPr>
        <p:spPr>
          <a:xfrm>
            <a:off x="10607040" y="1508760"/>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4</a:t>
            </a:r>
            <a:endParaRPr lang="en-US" sz="1100" dirty="0"/>
          </a:p>
        </p:txBody>
      </p:sp>
      <p:sp>
        <p:nvSpPr>
          <p:cNvPr id="12" name="Text 10"/>
          <p:cNvSpPr/>
          <p:nvPr/>
        </p:nvSpPr>
        <p:spPr>
          <a:xfrm>
            <a:off x="685800" y="2020824"/>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03</a:t>
            </a:r>
            <a:endParaRPr lang="en-US" sz="1300" dirty="0"/>
          </a:p>
        </p:txBody>
      </p:sp>
      <p:sp>
        <p:nvSpPr>
          <p:cNvPr id="13" name="Text 11"/>
          <p:cNvSpPr/>
          <p:nvPr/>
        </p:nvSpPr>
        <p:spPr>
          <a:xfrm>
            <a:off x="1280160" y="2020824"/>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Objectives</a:t>
            </a:r>
            <a:endParaRPr lang="en-US" sz="1300" dirty="0"/>
          </a:p>
        </p:txBody>
      </p:sp>
      <p:sp>
        <p:nvSpPr>
          <p:cNvPr id="14" name="Text 12"/>
          <p:cNvSpPr/>
          <p:nvPr/>
        </p:nvSpPr>
        <p:spPr>
          <a:xfrm>
            <a:off x="4892040" y="2020824"/>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5</a:t>
            </a:r>
            <a:endParaRPr lang="en-US" sz="1100" dirty="0"/>
          </a:p>
        </p:txBody>
      </p:sp>
      <p:sp>
        <p:nvSpPr>
          <p:cNvPr id="15" name="Text 13"/>
          <p:cNvSpPr/>
          <p:nvPr/>
        </p:nvSpPr>
        <p:spPr>
          <a:xfrm>
            <a:off x="6400800" y="2020824"/>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04</a:t>
            </a:r>
            <a:endParaRPr lang="en-US" sz="1300" dirty="0"/>
          </a:p>
        </p:txBody>
      </p:sp>
      <p:sp>
        <p:nvSpPr>
          <p:cNvPr id="16" name="Text 14"/>
          <p:cNvSpPr/>
          <p:nvPr/>
        </p:nvSpPr>
        <p:spPr>
          <a:xfrm>
            <a:off x="6995160" y="2020824"/>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Technologies Used</a:t>
            </a:r>
            <a:endParaRPr lang="en-US" sz="1300" dirty="0"/>
          </a:p>
        </p:txBody>
      </p:sp>
      <p:sp>
        <p:nvSpPr>
          <p:cNvPr id="17" name="Text 15"/>
          <p:cNvSpPr/>
          <p:nvPr/>
        </p:nvSpPr>
        <p:spPr>
          <a:xfrm>
            <a:off x="10607040" y="2020824"/>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6</a:t>
            </a:r>
            <a:endParaRPr lang="en-US" sz="1100" dirty="0"/>
          </a:p>
        </p:txBody>
      </p:sp>
      <p:sp>
        <p:nvSpPr>
          <p:cNvPr id="18" name="Shape 16"/>
          <p:cNvSpPr/>
          <p:nvPr/>
        </p:nvSpPr>
        <p:spPr>
          <a:xfrm>
            <a:off x="548640" y="2532888"/>
            <a:ext cx="5349240" cy="512064"/>
          </a:xfrm>
          <a:prstGeom prst="rect">
            <a:avLst/>
          </a:prstGeom>
          <a:solidFill>
            <a:srgbClr val="18202F"/>
          </a:solidFill>
          <a:ln/>
        </p:spPr>
      </p:sp>
      <p:sp>
        <p:nvSpPr>
          <p:cNvPr id="19" name="Text 17"/>
          <p:cNvSpPr/>
          <p:nvPr/>
        </p:nvSpPr>
        <p:spPr>
          <a:xfrm>
            <a:off x="685800" y="2532888"/>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05</a:t>
            </a:r>
            <a:endParaRPr lang="en-US" sz="1300" dirty="0"/>
          </a:p>
        </p:txBody>
      </p:sp>
      <p:sp>
        <p:nvSpPr>
          <p:cNvPr id="20" name="Text 18"/>
          <p:cNvSpPr/>
          <p:nvPr/>
        </p:nvSpPr>
        <p:spPr>
          <a:xfrm>
            <a:off x="1280160" y="2532888"/>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System Architecture</a:t>
            </a:r>
            <a:endParaRPr lang="en-US" sz="1300" dirty="0"/>
          </a:p>
        </p:txBody>
      </p:sp>
      <p:sp>
        <p:nvSpPr>
          <p:cNvPr id="21" name="Text 19"/>
          <p:cNvSpPr/>
          <p:nvPr/>
        </p:nvSpPr>
        <p:spPr>
          <a:xfrm>
            <a:off x="4892040" y="2532888"/>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7</a:t>
            </a:r>
            <a:endParaRPr lang="en-US" sz="1100" dirty="0"/>
          </a:p>
        </p:txBody>
      </p:sp>
      <p:sp>
        <p:nvSpPr>
          <p:cNvPr id="22" name="Shape 20"/>
          <p:cNvSpPr/>
          <p:nvPr/>
        </p:nvSpPr>
        <p:spPr>
          <a:xfrm>
            <a:off x="6263640" y="2532888"/>
            <a:ext cx="5349240" cy="512064"/>
          </a:xfrm>
          <a:prstGeom prst="rect">
            <a:avLst/>
          </a:prstGeom>
          <a:solidFill>
            <a:srgbClr val="18202F"/>
          </a:solidFill>
          <a:ln/>
        </p:spPr>
      </p:sp>
      <p:sp>
        <p:nvSpPr>
          <p:cNvPr id="23" name="Text 21"/>
          <p:cNvSpPr/>
          <p:nvPr/>
        </p:nvSpPr>
        <p:spPr>
          <a:xfrm>
            <a:off x="6400800" y="2532888"/>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06</a:t>
            </a:r>
            <a:endParaRPr lang="en-US" sz="1300" dirty="0"/>
          </a:p>
        </p:txBody>
      </p:sp>
      <p:sp>
        <p:nvSpPr>
          <p:cNvPr id="24" name="Text 22"/>
          <p:cNvSpPr/>
          <p:nvPr/>
        </p:nvSpPr>
        <p:spPr>
          <a:xfrm>
            <a:off x="6995160" y="2532888"/>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Complaint Lifecycle</a:t>
            </a:r>
            <a:endParaRPr lang="en-US" sz="1300" dirty="0"/>
          </a:p>
        </p:txBody>
      </p:sp>
      <p:sp>
        <p:nvSpPr>
          <p:cNvPr id="25" name="Text 23"/>
          <p:cNvSpPr/>
          <p:nvPr/>
        </p:nvSpPr>
        <p:spPr>
          <a:xfrm>
            <a:off x="10607040" y="2532888"/>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8</a:t>
            </a:r>
            <a:endParaRPr lang="en-US" sz="1100" dirty="0"/>
          </a:p>
        </p:txBody>
      </p:sp>
      <p:sp>
        <p:nvSpPr>
          <p:cNvPr id="26" name="Text 24"/>
          <p:cNvSpPr/>
          <p:nvPr/>
        </p:nvSpPr>
        <p:spPr>
          <a:xfrm>
            <a:off x="685800" y="3044952"/>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07</a:t>
            </a:r>
            <a:endParaRPr lang="en-US" sz="1300" dirty="0"/>
          </a:p>
        </p:txBody>
      </p:sp>
      <p:sp>
        <p:nvSpPr>
          <p:cNvPr id="27" name="Text 25"/>
          <p:cNvSpPr/>
          <p:nvPr/>
        </p:nvSpPr>
        <p:spPr>
          <a:xfrm>
            <a:off x="1280160" y="3044952"/>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Database Design</a:t>
            </a:r>
            <a:endParaRPr lang="en-US" sz="1300" dirty="0"/>
          </a:p>
        </p:txBody>
      </p:sp>
      <p:sp>
        <p:nvSpPr>
          <p:cNvPr id="28" name="Text 26"/>
          <p:cNvSpPr/>
          <p:nvPr/>
        </p:nvSpPr>
        <p:spPr>
          <a:xfrm>
            <a:off x="4892040" y="3044952"/>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9</a:t>
            </a:r>
            <a:endParaRPr lang="en-US" sz="1100" dirty="0"/>
          </a:p>
        </p:txBody>
      </p:sp>
      <p:sp>
        <p:nvSpPr>
          <p:cNvPr id="29" name="Text 27"/>
          <p:cNvSpPr/>
          <p:nvPr/>
        </p:nvSpPr>
        <p:spPr>
          <a:xfrm>
            <a:off x="6400800" y="3044952"/>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08</a:t>
            </a:r>
            <a:endParaRPr lang="en-US" sz="1300" dirty="0"/>
          </a:p>
        </p:txBody>
      </p:sp>
      <p:sp>
        <p:nvSpPr>
          <p:cNvPr id="30" name="Text 28"/>
          <p:cNvSpPr/>
          <p:nvPr/>
        </p:nvSpPr>
        <p:spPr>
          <a:xfrm>
            <a:off x="6995160" y="3044952"/>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Module Description</a:t>
            </a:r>
            <a:endParaRPr lang="en-US" sz="1300" dirty="0"/>
          </a:p>
        </p:txBody>
      </p:sp>
      <p:sp>
        <p:nvSpPr>
          <p:cNvPr id="31" name="Text 29"/>
          <p:cNvSpPr/>
          <p:nvPr/>
        </p:nvSpPr>
        <p:spPr>
          <a:xfrm>
            <a:off x="10607040" y="3044952"/>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10</a:t>
            </a:r>
            <a:endParaRPr lang="en-US" sz="1100" dirty="0"/>
          </a:p>
        </p:txBody>
      </p:sp>
      <p:sp>
        <p:nvSpPr>
          <p:cNvPr id="32" name="Shape 30"/>
          <p:cNvSpPr/>
          <p:nvPr/>
        </p:nvSpPr>
        <p:spPr>
          <a:xfrm>
            <a:off x="548640" y="3557016"/>
            <a:ext cx="5349240" cy="512064"/>
          </a:xfrm>
          <a:prstGeom prst="rect">
            <a:avLst/>
          </a:prstGeom>
          <a:solidFill>
            <a:srgbClr val="18202F"/>
          </a:solidFill>
          <a:ln/>
        </p:spPr>
      </p:sp>
      <p:sp>
        <p:nvSpPr>
          <p:cNvPr id="33" name="Text 31"/>
          <p:cNvSpPr/>
          <p:nvPr/>
        </p:nvSpPr>
        <p:spPr>
          <a:xfrm>
            <a:off x="685800" y="3557016"/>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09</a:t>
            </a:r>
            <a:endParaRPr lang="en-US" sz="1300" dirty="0"/>
          </a:p>
        </p:txBody>
      </p:sp>
      <p:sp>
        <p:nvSpPr>
          <p:cNvPr id="34" name="Text 32"/>
          <p:cNvSpPr/>
          <p:nvPr/>
        </p:nvSpPr>
        <p:spPr>
          <a:xfrm>
            <a:off x="1280160" y="3557016"/>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API Design &amp; Security</a:t>
            </a:r>
            <a:endParaRPr lang="en-US" sz="1300" dirty="0"/>
          </a:p>
        </p:txBody>
      </p:sp>
      <p:sp>
        <p:nvSpPr>
          <p:cNvPr id="35" name="Text 33"/>
          <p:cNvSpPr/>
          <p:nvPr/>
        </p:nvSpPr>
        <p:spPr>
          <a:xfrm>
            <a:off x="4892040" y="3557016"/>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11</a:t>
            </a:r>
            <a:endParaRPr lang="en-US" sz="1100" dirty="0"/>
          </a:p>
        </p:txBody>
      </p:sp>
      <p:sp>
        <p:nvSpPr>
          <p:cNvPr id="36" name="Shape 34"/>
          <p:cNvSpPr/>
          <p:nvPr/>
        </p:nvSpPr>
        <p:spPr>
          <a:xfrm>
            <a:off x="6263640" y="3557016"/>
            <a:ext cx="5349240" cy="512064"/>
          </a:xfrm>
          <a:prstGeom prst="rect">
            <a:avLst/>
          </a:prstGeom>
          <a:solidFill>
            <a:srgbClr val="18202F"/>
          </a:solidFill>
          <a:ln/>
        </p:spPr>
      </p:sp>
      <p:sp>
        <p:nvSpPr>
          <p:cNvPr id="37" name="Text 35"/>
          <p:cNvSpPr/>
          <p:nvPr/>
        </p:nvSpPr>
        <p:spPr>
          <a:xfrm>
            <a:off x="6400800" y="3557016"/>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10</a:t>
            </a:r>
            <a:endParaRPr lang="en-US" sz="1300" dirty="0"/>
          </a:p>
        </p:txBody>
      </p:sp>
      <p:sp>
        <p:nvSpPr>
          <p:cNvPr id="38" name="Text 36"/>
          <p:cNvSpPr/>
          <p:nvPr/>
        </p:nvSpPr>
        <p:spPr>
          <a:xfrm>
            <a:off x="6995160" y="3557016"/>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Testing</a:t>
            </a:r>
            <a:endParaRPr lang="en-US" sz="1300" dirty="0"/>
          </a:p>
        </p:txBody>
      </p:sp>
      <p:sp>
        <p:nvSpPr>
          <p:cNvPr id="39" name="Text 37"/>
          <p:cNvSpPr/>
          <p:nvPr/>
        </p:nvSpPr>
        <p:spPr>
          <a:xfrm>
            <a:off x="10607040" y="3557016"/>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12</a:t>
            </a:r>
            <a:endParaRPr lang="en-US" sz="1100" dirty="0"/>
          </a:p>
        </p:txBody>
      </p:sp>
      <p:sp>
        <p:nvSpPr>
          <p:cNvPr id="40" name="Text 38"/>
          <p:cNvSpPr/>
          <p:nvPr/>
        </p:nvSpPr>
        <p:spPr>
          <a:xfrm>
            <a:off x="685800" y="4069080"/>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11</a:t>
            </a:r>
            <a:endParaRPr lang="en-US" sz="1300" dirty="0"/>
          </a:p>
        </p:txBody>
      </p:sp>
      <p:sp>
        <p:nvSpPr>
          <p:cNvPr id="41" name="Text 39"/>
          <p:cNvSpPr/>
          <p:nvPr/>
        </p:nvSpPr>
        <p:spPr>
          <a:xfrm>
            <a:off x="1280160" y="4069080"/>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Results &amp; Achievements</a:t>
            </a:r>
            <a:endParaRPr lang="en-US" sz="1300" dirty="0"/>
          </a:p>
        </p:txBody>
      </p:sp>
      <p:sp>
        <p:nvSpPr>
          <p:cNvPr id="42" name="Text 40"/>
          <p:cNvSpPr/>
          <p:nvPr/>
        </p:nvSpPr>
        <p:spPr>
          <a:xfrm>
            <a:off x="4892040" y="4069080"/>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13</a:t>
            </a:r>
            <a:endParaRPr lang="en-US" sz="1100" dirty="0"/>
          </a:p>
        </p:txBody>
      </p:sp>
      <p:sp>
        <p:nvSpPr>
          <p:cNvPr id="43" name="Text 41"/>
          <p:cNvSpPr/>
          <p:nvPr/>
        </p:nvSpPr>
        <p:spPr>
          <a:xfrm>
            <a:off x="6400800" y="4069080"/>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12</a:t>
            </a:r>
            <a:endParaRPr lang="en-US" sz="1300" dirty="0"/>
          </a:p>
        </p:txBody>
      </p:sp>
      <p:sp>
        <p:nvSpPr>
          <p:cNvPr id="44" name="Text 42"/>
          <p:cNvSpPr/>
          <p:nvPr/>
        </p:nvSpPr>
        <p:spPr>
          <a:xfrm>
            <a:off x="6995160" y="4069080"/>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Challenges Faced</a:t>
            </a:r>
            <a:endParaRPr lang="en-US" sz="1300" dirty="0"/>
          </a:p>
        </p:txBody>
      </p:sp>
      <p:sp>
        <p:nvSpPr>
          <p:cNvPr id="45" name="Text 43"/>
          <p:cNvSpPr/>
          <p:nvPr/>
        </p:nvSpPr>
        <p:spPr>
          <a:xfrm>
            <a:off x="10607040" y="4069080"/>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14</a:t>
            </a:r>
            <a:endParaRPr lang="en-US" sz="1100" dirty="0"/>
          </a:p>
        </p:txBody>
      </p:sp>
      <p:sp>
        <p:nvSpPr>
          <p:cNvPr id="46" name="Shape 44"/>
          <p:cNvSpPr/>
          <p:nvPr/>
        </p:nvSpPr>
        <p:spPr>
          <a:xfrm>
            <a:off x="548640" y="4581144"/>
            <a:ext cx="5349240" cy="512064"/>
          </a:xfrm>
          <a:prstGeom prst="rect">
            <a:avLst/>
          </a:prstGeom>
          <a:solidFill>
            <a:srgbClr val="18202F"/>
          </a:solidFill>
          <a:ln/>
        </p:spPr>
      </p:sp>
      <p:sp>
        <p:nvSpPr>
          <p:cNvPr id="47" name="Text 45"/>
          <p:cNvSpPr/>
          <p:nvPr/>
        </p:nvSpPr>
        <p:spPr>
          <a:xfrm>
            <a:off x="685800" y="4581144"/>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13</a:t>
            </a:r>
            <a:endParaRPr lang="en-US" sz="1300" dirty="0"/>
          </a:p>
        </p:txBody>
      </p:sp>
      <p:sp>
        <p:nvSpPr>
          <p:cNvPr id="48" name="Text 46"/>
          <p:cNvSpPr/>
          <p:nvPr/>
        </p:nvSpPr>
        <p:spPr>
          <a:xfrm>
            <a:off x="1280160" y="4581144"/>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Future Enhancements</a:t>
            </a:r>
            <a:endParaRPr lang="en-US" sz="1300" dirty="0"/>
          </a:p>
        </p:txBody>
      </p:sp>
      <p:sp>
        <p:nvSpPr>
          <p:cNvPr id="49" name="Text 47"/>
          <p:cNvSpPr/>
          <p:nvPr/>
        </p:nvSpPr>
        <p:spPr>
          <a:xfrm>
            <a:off x="4892040" y="4581144"/>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15</a:t>
            </a:r>
            <a:endParaRPr lang="en-US" sz="1100" dirty="0"/>
          </a:p>
        </p:txBody>
      </p:sp>
      <p:sp>
        <p:nvSpPr>
          <p:cNvPr id="50" name="Shape 48"/>
          <p:cNvSpPr/>
          <p:nvPr/>
        </p:nvSpPr>
        <p:spPr>
          <a:xfrm>
            <a:off x="6263640" y="4581144"/>
            <a:ext cx="5349240" cy="512064"/>
          </a:xfrm>
          <a:prstGeom prst="rect">
            <a:avLst/>
          </a:prstGeom>
          <a:solidFill>
            <a:srgbClr val="18202F"/>
          </a:solidFill>
          <a:ln/>
        </p:spPr>
      </p:sp>
      <p:sp>
        <p:nvSpPr>
          <p:cNvPr id="51" name="Text 49"/>
          <p:cNvSpPr/>
          <p:nvPr/>
        </p:nvSpPr>
        <p:spPr>
          <a:xfrm>
            <a:off x="6400800" y="4581144"/>
            <a:ext cx="548640" cy="512064"/>
          </a:xfrm>
          <a:prstGeom prst="rect">
            <a:avLst/>
          </a:prstGeom>
          <a:noFill/>
          <a:ln/>
        </p:spPr>
        <p:txBody>
          <a:bodyPr wrap="square" lIns="0" tIns="0" rIns="0" bIns="0" rtlCol="0" anchor="ctr"/>
          <a:lstStyle/>
          <a:p>
            <a:pPr indent="0" marL="0">
              <a:buNone/>
            </a:pPr>
            <a:r>
              <a:rPr lang="en-US" sz="1300" b="1" dirty="0">
                <a:solidFill>
                  <a:srgbClr val="2DD4BF"/>
                </a:solidFill>
                <a:latin typeface="Cambria" pitchFamily="34" charset="0"/>
                <a:ea typeface="Cambria" pitchFamily="34" charset="-122"/>
                <a:cs typeface="Cambria" pitchFamily="34" charset="-120"/>
              </a:rPr>
              <a:t>14</a:t>
            </a:r>
            <a:endParaRPr lang="en-US" sz="1300" dirty="0"/>
          </a:p>
        </p:txBody>
      </p:sp>
      <p:sp>
        <p:nvSpPr>
          <p:cNvPr id="52" name="Text 50"/>
          <p:cNvSpPr/>
          <p:nvPr/>
        </p:nvSpPr>
        <p:spPr>
          <a:xfrm>
            <a:off x="6995160" y="4581144"/>
            <a:ext cx="3703320" cy="512064"/>
          </a:xfrm>
          <a:prstGeom prst="rect">
            <a:avLst/>
          </a:prstGeom>
          <a:noFill/>
          <a:ln/>
        </p:spPr>
        <p:txBody>
          <a:bodyPr wrap="square" lIns="0" tIns="0" rIns="0" bIns="0" rtlCol="0" anchor="ctr"/>
          <a:lstStyle/>
          <a:p>
            <a:pPr indent="0" marL="0">
              <a:buNone/>
            </a:pPr>
            <a:r>
              <a:rPr lang="en-US" sz="1300" dirty="0">
                <a:solidFill>
                  <a:srgbClr val="F5F7FA"/>
                </a:solidFill>
                <a:latin typeface="Calibri" pitchFamily="34" charset="0"/>
                <a:ea typeface="Calibri" pitchFamily="34" charset="-122"/>
                <a:cs typeface="Calibri" pitchFamily="34" charset="-120"/>
              </a:rPr>
              <a:t>Conclusion</a:t>
            </a:r>
            <a:endParaRPr lang="en-US" sz="1300" dirty="0"/>
          </a:p>
        </p:txBody>
      </p:sp>
      <p:sp>
        <p:nvSpPr>
          <p:cNvPr id="53" name="Text 51"/>
          <p:cNvSpPr/>
          <p:nvPr/>
        </p:nvSpPr>
        <p:spPr>
          <a:xfrm>
            <a:off x="10607040" y="4581144"/>
            <a:ext cx="914400" cy="512064"/>
          </a:xfrm>
          <a:prstGeom prst="rect">
            <a:avLst/>
          </a:prstGeom>
          <a:noFill/>
          <a:ln/>
        </p:spPr>
        <p:txBody>
          <a:bodyPr wrap="square" lIns="0" tIns="0" rIns="1905"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Slide 16</a:t>
            </a:r>
            <a:endParaRPr lang="en-US" sz="1100" dirty="0"/>
          </a:p>
        </p:txBody>
      </p:sp>
      <p:sp>
        <p:nvSpPr>
          <p:cNvPr id="54" name="Text 52"/>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55" name="Text 53"/>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ORGANIZATION PROFILE</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Central Electronics Limited (CEL)</a:t>
            </a:r>
            <a:endParaRPr lang="en-US" sz="3000" dirty="0"/>
          </a:p>
        </p:txBody>
      </p:sp>
      <p:sp>
        <p:nvSpPr>
          <p:cNvPr id="4" name="Text 2"/>
          <p:cNvSpPr/>
          <p:nvPr/>
        </p:nvSpPr>
        <p:spPr>
          <a:xfrm>
            <a:off x="548640" y="1463040"/>
            <a:ext cx="6309360" cy="1828800"/>
          </a:xfrm>
          <a:prstGeom prst="rect">
            <a:avLst/>
          </a:prstGeom>
          <a:noFill/>
          <a:ln/>
        </p:spPr>
        <p:txBody>
          <a:bodyPr wrap="square" lIns="0" tIns="0" rIns="0" bIns="0" rtlCol="0" anchor="ctr"/>
          <a:lstStyle/>
          <a:p>
            <a:pPr indent="0" marL="0">
              <a:lnSpc>
                <a:spcPct val="130000"/>
              </a:lnSpc>
              <a:buNone/>
            </a:pPr>
            <a:r>
              <a:rPr lang="en-US" sz="1350" dirty="0">
                <a:solidFill>
                  <a:srgbClr val="94A3B8"/>
                </a:solidFill>
                <a:latin typeface="Calibri" pitchFamily="34" charset="0"/>
                <a:ea typeface="Calibri" pitchFamily="34" charset="-122"/>
                <a:cs typeface="Calibri" pitchFamily="34" charset="-120"/>
              </a:rPr>
              <a:t>A Government of India enterprise under the Department of Scientific and Industrial Research (DSIR), Ministry of Science and Technology. Established in 1974 to commercially exploit indigenous technologies developed by national laboratories and research institutions. Corporate office and factory: Sahibabad, Ghaziabad, Uttar Pradesh.</a:t>
            </a:r>
            <a:endParaRPr lang="en-US" sz="1350" dirty="0"/>
          </a:p>
        </p:txBody>
      </p:sp>
      <p:sp>
        <p:nvSpPr>
          <p:cNvPr id="5" name="Shape 3"/>
          <p:cNvSpPr/>
          <p:nvPr/>
        </p:nvSpPr>
        <p:spPr>
          <a:xfrm>
            <a:off x="548640" y="3337560"/>
            <a:ext cx="1828800" cy="457200"/>
          </a:xfrm>
          <a:prstGeom prst="roundRect">
            <a:avLst>
              <a:gd name="adj" fmla="val 50000"/>
            </a:avLst>
          </a:prstGeom>
          <a:solidFill>
            <a:srgbClr val="13293D"/>
          </a:solidFill>
          <a:ln w="12700">
            <a:solidFill>
              <a:srgbClr val="2DD4BF"/>
            </a:solidFill>
            <a:prstDash val="solid"/>
          </a:ln>
        </p:spPr>
      </p:sp>
      <p:sp>
        <p:nvSpPr>
          <p:cNvPr id="6" name="Text 4"/>
          <p:cNvSpPr/>
          <p:nvPr/>
        </p:nvSpPr>
        <p:spPr>
          <a:xfrm>
            <a:off x="548640" y="3337560"/>
            <a:ext cx="1828800" cy="457200"/>
          </a:xfrm>
          <a:prstGeom prst="rect">
            <a:avLst/>
          </a:prstGeom>
          <a:noFill/>
          <a:ln/>
        </p:spPr>
        <p:txBody>
          <a:bodyPr wrap="square" lIns="0" tIns="0" rIns="0" bIns="0" rtlCol="0" anchor="ctr"/>
          <a:lstStyle/>
          <a:p>
            <a:pPr algn="ctr" indent="0" marL="0">
              <a:buNone/>
            </a:pPr>
            <a:r>
              <a:rPr lang="en-US" sz="950" b="1" dirty="0">
                <a:solidFill>
                  <a:srgbClr val="2DD4BF"/>
                </a:solidFill>
                <a:latin typeface="Calibri" pitchFamily="34" charset="0"/>
                <a:ea typeface="Calibri" pitchFamily="34" charset="-122"/>
                <a:cs typeface="Calibri" pitchFamily="34" charset="-120"/>
              </a:rPr>
              <a:t>MINI RATNA ENTERPRISE</a:t>
            </a:r>
            <a:endParaRPr lang="en-US" sz="950" dirty="0"/>
          </a:p>
        </p:txBody>
      </p:sp>
      <p:sp>
        <p:nvSpPr>
          <p:cNvPr id="7" name="Text 5"/>
          <p:cNvSpPr/>
          <p:nvPr/>
        </p:nvSpPr>
        <p:spPr>
          <a:xfrm>
            <a:off x="548640" y="3977640"/>
            <a:ext cx="6309360" cy="1463040"/>
          </a:xfrm>
          <a:prstGeom prst="rect">
            <a:avLst/>
          </a:prstGeom>
          <a:noFill/>
          <a:ln/>
        </p:spPr>
        <p:txBody>
          <a:bodyPr wrap="square" lIns="0" tIns="0" rIns="0" bIns="0" rtlCol="0" anchor="ctr"/>
          <a:lstStyle/>
          <a:p>
            <a:pPr indent="0" marL="0">
              <a:lnSpc>
                <a:spcPct val="130000"/>
              </a:lnSpc>
              <a:buNone/>
            </a:pPr>
            <a:r>
              <a:rPr lang="en-US" sz="1200" i="1" dirty="0">
                <a:solidFill>
                  <a:srgbClr val="F5F7FA"/>
                </a:solidFill>
                <a:latin typeface="Calibri" pitchFamily="34" charset="0"/>
                <a:ea typeface="Calibri" pitchFamily="34" charset="-122"/>
                <a:cs typeface="Calibri" pitchFamily="34" charset="-120"/>
              </a:rPr>
              <a:t>Vision emphasizes trusted, technology-innovative public-sector delivery across defence, green energy, strategic electronics, railways and associated services. Mission focuses on indigenous, quality solutions grounded in innovation, integrity and national priorities.</a:t>
            </a:r>
            <a:endParaRPr lang="en-US" sz="1200" dirty="0"/>
          </a:p>
        </p:txBody>
      </p:sp>
      <p:sp>
        <p:nvSpPr>
          <p:cNvPr id="8" name="Shape 6"/>
          <p:cNvSpPr/>
          <p:nvPr/>
        </p:nvSpPr>
        <p:spPr>
          <a:xfrm>
            <a:off x="7178040" y="1463040"/>
            <a:ext cx="4434840" cy="4434840"/>
          </a:xfrm>
          <a:prstGeom prst="roundRect">
            <a:avLst>
              <a:gd name="adj" fmla="val 1649"/>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7452360" y="1645920"/>
            <a:ext cx="3931920" cy="320040"/>
          </a:xfrm>
          <a:prstGeom prst="rect">
            <a:avLst/>
          </a:prstGeom>
          <a:noFill/>
          <a:ln/>
        </p:spPr>
        <p:txBody>
          <a:bodyPr wrap="square" lIns="0" tIns="0" rIns="0" bIns="0" rtlCol="0" anchor="ctr"/>
          <a:lstStyle/>
          <a:p>
            <a:pPr indent="0" marL="0">
              <a:buNone/>
            </a:pPr>
            <a:r>
              <a:rPr lang="en-US" sz="1300" b="1" dirty="0">
                <a:solidFill>
                  <a:srgbClr val="F0B429"/>
                </a:solidFill>
                <a:latin typeface="Calibri" pitchFamily="34" charset="0"/>
                <a:ea typeface="Calibri" pitchFamily="34" charset="-122"/>
                <a:cs typeface="Calibri" pitchFamily="34" charset="-120"/>
              </a:rPr>
              <a:t>Core Business Areas</a:t>
            </a:r>
            <a:endParaRPr lang="en-US" sz="1300" dirty="0"/>
          </a:p>
        </p:txBody>
      </p:sp>
      <p:sp>
        <p:nvSpPr>
          <p:cNvPr id="10" name="Shape 8"/>
          <p:cNvSpPr/>
          <p:nvPr/>
        </p:nvSpPr>
        <p:spPr>
          <a:xfrm>
            <a:off x="7452360" y="2212848"/>
            <a:ext cx="82296" cy="82296"/>
          </a:xfrm>
          <a:prstGeom prst="ellipse">
            <a:avLst/>
          </a:prstGeom>
          <a:solidFill>
            <a:srgbClr val="F0B429"/>
          </a:solidFill>
          <a:ln/>
        </p:spPr>
      </p:sp>
      <p:sp>
        <p:nvSpPr>
          <p:cNvPr id="11" name="Text 9"/>
          <p:cNvSpPr/>
          <p:nvPr/>
        </p:nvSpPr>
        <p:spPr>
          <a:xfrm>
            <a:off x="7680960" y="2093976"/>
            <a:ext cx="3749040" cy="365760"/>
          </a:xfrm>
          <a:prstGeom prst="rect">
            <a:avLst/>
          </a:prstGeom>
          <a:noFill/>
          <a:ln/>
        </p:spPr>
        <p:txBody>
          <a:bodyPr wrap="square" lIns="0" tIns="0" rIns="0" bIns="0" rtlCol="0" anchor="ctr"/>
          <a:lstStyle/>
          <a:p>
            <a:pPr indent="0" marL="0">
              <a:buNone/>
            </a:pPr>
            <a:r>
              <a:rPr lang="en-US" sz="1250" dirty="0">
                <a:solidFill>
                  <a:srgbClr val="F5F7FA"/>
                </a:solidFill>
                <a:latin typeface="Calibri" pitchFamily="34" charset="0"/>
                <a:ea typeface="Calibri" pitchFamily="34" charset="-122"/>
                <a:cs typeface="Calibri" pitchFamily="34" charset="-120"/>
              </a:rPr>
              <a:t>Defence &amp; Strategic Systems</a:t>
            </a:r>
            <a:endParaRPr lang="en-US" sz="1250" dirty="0"/>
          </a:p>
        </p:txBody>
      </p:sp>
      <p:sp>
        <p:nvSpPr>
          <p:cNvPr id="12" name="Shape 10"/>
          <p:cNvSpPr/>
          <p:nvPr/>
        </p:nvSpPr>
        <p:spPr>
          <a:xfrm>
            <a:off x="7452360" y="2743200"/>
            <a:ext cx="82296" cy="82296"/>
          </a:xfrm>
          <a:prstGeom prst="ellipse">
            <a:avLst/>
          </a:prstGeom>
          <a:solidFill>
            <a:srgbClr val="F0B429"/>
          </a:solidFill>
          <a:ln/>
        </p:spPr>
      </p:sp>
      <p:sp>
        <p:nvSpPr>
          <p:cNvPr id="13" name="Text 11"/>
          <p:cNvSpPr/>
          <p:nvPr/>
        </p:nvSpPr>
        <p:spPr>
          <a:xfrm>
            <a:off x="7680960" y="2624328"/>
            <a:ext cx="3749040" cy="365760"/>
          </a:xfrm>
          <a:prstGeom prst="rect">
            <a:avLst/>
          </a:prstGeom>
          <a:noFill/>
          <a:ln/>
        </p:spPr>
        <p:txBody>
          <a:bodyPr wrap="square" lIns="0" tIns="0" rIns="0" bIns="0" rtlCol="0" anchor="ctr"/>
          <a:lstStyle/>
          <a:p>
            <a:pPr indent="0" marL="0">
              <a:buNone/>
            </a:pPr>
            <a:r>
              <a:rPr lang="en-US" sz="1250" dirty="0">
                <a:solidFill>
                  <a:srgbClr val="F5F7FA"/>
                </a:solidFill>
                <a:latin typeface="Calibri" pitchFamily="34" charset="0"/>
                <a:ea typeface="Calibri" pitchFamily="34" charset="-122"/>
                <a:cs typeface="Calibri" pitchFamily="34" charset="-120"/>
              </a:rPr>
              <a:t>Renewable Energy</a:t>
            </a:r>
            <a:endParaRPr lang="en-US" sz="1250" dirty="0"/>
          </a:p>
        </p:txBody>
      </p:sp>
      <p:sp>
        <p:nvSpPr>
          <p:cNvPr id="14" name="Shape 12"/>
          <p:cNvSpPr/>
          <p:nvPr/>
        </p:nvSpPr>
        <p:spPr>
          <a:xfrm>
            <a:off x="7452360" y="3273552"/>
            <a:ext cx="82296" cy="82296"/>
          </a:xfrm>
          <a:prstGeom prst="ellipse">
            <a:avLst/>
          </a:prstGeom>
          <a:solidFill>
            <a:srgbClr val="F0B429"/>
          </a:solidFill>
          <a:ln/>
        </p:spPr>
      </p:sp>
      <p:sp>
        <p:nvSpPr>
          <p:cNvPr id="15" name="Text 13"/>
          <p:cNvSpPr/>
          <p:nvPr/>
        </p:nvSpPr>
        <p:spPr>
          <a:xfrm>
            <a:off x="7680960" y="3154680"/>
            <a:ext cx="3749040" cy="365760"/>
          </a:xfrm>
          <a:prstGeom prst="rect">
            <a:avLst/>
          </a:prstGeom>
          <a:noFill/>
          <a:ln/>
        </p:spPr>
        <p:txBody>
          <a:bodyPr wrap="square" lIns="0" tIns="0" rIns="0" bIns="0" rtlCol="0" anchor="ctr"/>
          <a:lstStyle/>
          <a:p>
            <a:pPr indent="0" marL="0">
              <a:buNone/>
            </a:pPr>
            <a:r>
              <a:rPr lang="en-US" sz="1250" dirty="0">
                <a:solidFill>
                  <a:srgbClr val="F5F7FA"/>
                </a:solidFill>
                <a:latin typeface="Calibri" pitchFamily="34" charset="0"/>
                <a:ea typeface="Calibri" pitchFamily="34" charset="-122"/>
                <a:cs typeface="Calibri" pitchFamily="34" charset="-120"/>
              </a:rPr>
              <a:t>Railway Technologies</a:t>
            </a:r>
            <a:endParaRPr lang="en-US" sz="1250" dirty="0"/>
          </a:p>
        </p:txBody>
      </p:sp>
      <p:sp>
        <p:nvSpPr>
          <p:cNvPr id="16" name="Shape 14"/>
          <p:cNvSpPr/>
          <p:nvPr/>
        </p:nvSpPr>
        <p:spPr>
          <a:xfrm>
            <a:off x="7452360" y="3803904"/>
            <a:ext cx="82296" cy="82296"/>
          </a:xfrm>
          <a:prstGeom prst="ellipse">
            <a:avLst/>
          </a:prstGeom>
          <a:solidFill>
            <a:srgbClr val="F0B429"/>
          </a:solidFill>
          <a:ln/>
        </p:spPr>
      </p:sp>
      <p:sp>
        <p:nvSpPr>
          <p:cNvPr id="17" name="Text 15"/>
          <p:cNvSpPr/>
          <p:nvPr/>
        </p:nvSpPr>
        <p:spPr>
          <a:xfrm>
            <a:off x="7680960" y="3685032"/>
            <a:ext cx="3749040" cy="365760"/>
          </a:xfrm>
          <a:prstGeom prst="rect">
            <a:avLst/>
          </a:prstGeom>
          <a:noFill/>
          <a:ln/>
        </p:spPr>
        <p:txBody>
          <a:bodyPr wrap="square" lIns="0" tIns="0" rIns="0" bIns="0" rtlCol="0" anchor="ctr"/>
          <a:lstStyle/>
          <a:p>
            <a:pPr indent="0" marL="0">
              <a:buNone/>
            </a:pPr>
            <a:r>
              <a:rPr lang="en-US" sz="1250" dirty="0">
                <a:solidFill>
                  <a:srgbClr val="F5F7FA"/>
                </a:solidFill>
                <a:latin typeface="Calibri" pitchFamily="34" charset="0"/>
                <a:ea typeface="Calibri" pitchFamily="34" charset="-122"/>
                <a:cs typeface="Calibri" pitchFamily="34" charset="-120"/>
              </a:rPr>
              <a:t>Integrated Engineering Solutions</a:t>
            </a:r>
            <a:endParaRPr lang="en-US" sz="1250" dirty="0"/>
          </a:p>
        </p:txBody>
      </p:sp>
      <p:sp>
        <p:nvSpPr>
          <p:cNvPr id="18" name="Shape 16"/>
          <p:cNvSpPr/>
          <p:nvPr/>
        </p:nvSpPr>
        <p:spPr>
          <a:xfrm>
            <a:off x="7452360" y="4334256"/>
            <a:ext cx="82296" cy="82296"/>
          </a:xfrm>
          <a:prstGeom prst="ellipse">
            <a:avLst/>
          </a:prstGeom>
          <a:solidFill>
            <a:srgbClr val="F0B429"/>
          </a:solidFill>
          <a:ln/>
        </p:spPr>
      </p:sp>
      <p:sp>
        <p:nvSpPr>
          <p:cNvPr id="19" name="Text 17"/>
          <p:cNvSpPr/>
          <p:nvPr/>
        </p:nvSpPr>
        <p:spPr>
          <a:xfrm>
            <a:off x="7680960" y="4215384"/>
            <a:ext cx="3749040" cy="365760"/>
          </a:xfrm>
          <a:prstGeom prst="rect">
            <a:avLst/>
          </a:prstGeom>
          <a:noFill/>
          <a:ln/>
        </p:spPr>
        <p:txBody>
          <a:bodyPr wrap="square" lIns="0" tIns="0" rIns="0" bIns="0" rtlCol="0" anchor="ctr"/>
          <a:lstStyle/>
          <a:p>
            <a:pPr indent="0" marL="0">
              <a:buNone/>
            </a:pPr>
            <a:r>
              <a:rPr lang="en-US" sz="1250" dirty="0">
                <a:solidFill>
                  <a:srgbClr val="F5F7FA"/>
                </a:solidFill>
                <a:latin typeface="Calibri" pitchFamily="34" charset="0"/>
                <a:ea typeface="Calibri" pitchFamily="34" charset="-122"/>
                <a:cs typeface="Calibri" pitchFamily="34" charset="-120"/>
              </a:rPr>
              <a:t>Digital Infrastructure</a:t>
            </a:r>
            <a:endParaRPr lang="en-US" sz="1250" dirty="0"/>
          </a:p>
        </p:txBody>
      </p:sp>
      <p:sp>
        <p:nvSpPr>
          <p:cNvPr id="20" name="Shape 18"/>
          <p:cNvSpPr/>
          <p:nvPr/>
        </p:nvSpPr>
        <p:spPr>
          <a:xfrm>
            <a:off x="7452360" y="4864608"/>
            <a:ext cx="82296" cy="82296"/>
          </a:xfrm>
          <a:prstGeom prst="ellipse">
            <a:avLst/>
          </a:prstGeom>
          <a:solidFill>
            <a:srgbClr val="F0B429"/>
          </a:solidFill>
          <a:ln/>
        </p:spPr>
      </p:sp>
      <p:sp>
        <p:nvSpPr>
          <p:cNvPr id="21" name="Text 19"/>
          <p:cNvSpPr/>
          <p:nvPr/>
        </p:nvSpPr>
        <p:spPr>
          <a:xfrm>
            <a:off x="7680960" y="4745736"/>
            <a:ext cx="3749040" cy="365760"/>
          </a:xfrm>
          <a:prstGeom prst="rect">
            <a:avLst/>
          </a:prstGeom>
          <a:noFill/>
          <a:ln/>
        </p:spPr>
        <p:txBody>
          <a:bodyPr wrap="square" lIns="0" tIns="0" rIns="0" bIns="0" rtlCol="0" anchor="ctr"/>
          <a:lstStyle/>
          <a:p>
            <a:pPr indent="0" marL="0">
              <a:buNone/>
            </a:pPr>
            <a:r>
              <a:rPr lang="en-US" sz="1250" dirty="0">
                <a:solidFill>
                  <a:srgbClr val="F5F7FA"/>
                </a:solidFill>
                <a:latin typeface="Calibri" pitchFamily="34" charset="0"/>
                <a:ea typeface="Calibri" pitchFamily="34" charset="-122"/>
                <a:cs typeface="Calibri" pitchFamily="34" charset="-120"/>
              </a:rPr>
              <a:t>Research &amp; Development</a:t>
            </a:r>
            <a:endParaRPr lang="en-US" sz="1250" dirty="0"/>
          </a:p>
        </p:txBody>
      </p:sp>
      <p:sp>
        <p:nvSpPr>
          <p:cNvPr id="22" name="Text 20"/>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23" name="Text 21"/>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A Verified Prototype for Public Service Delivery</a:t>
            </a:r>
            <a:endParaRPr lang="en-US" sz="3000" dirty="0"/>
          </a:p>
        </p:txBody>
      </p:sp>
      <p:sp>
        <p:nvSpPr>
          <p:cNvPr id="4" name="Text 2"/>
          <p:cNvSpPr/>
          <p:nvPr/>
        </p:nvSpPr>
        <p:spPr>
          <a:xfrm>
            <a:off x="548640" y="1417320"/>
            <a:ext cx="6583680" cy="1463040"/>
          </a:xfrm>
          <a:prstGeom prst="rect">
            <a:avLst/>
          </a:prstGeom>
          <a:noFill/>
          <a:ln/>
        </p:spPr>
        <p:txBody>
          <a:bodyPr wrap="square" lIns="0" tIns="0" rIns="0" bIns="0" rtlCol="0" anchor="ctr"/>
          <a:lstStyle/>
          <a:p>
            <a:pPr indent="0" marL="0">
              <a:lnSpc>
                <a:spcPct val="125000"/>
              </a:lnSpc>
              <a:buNone/>
            </a:pPr>
            <a:r>
              <a:rPr lang="en-US" sz="1400" dirty="0">
                <a:solidFill>
                  <a:srgbClr val="94A3B8"/>
                </a:solidFill>
                <a:latin typeface="Calibri" pitchFamily="34" charset="0"/>
                <a:ea typeface="Calibri" pitchFamily="34" charset="-122"/>
                <a:cs typeface="Calibri" pitchFamily="34" charset="-120"/>
              </a:rPr>
              <a:t>A single Node.js + Express application combining a modernized public CEL website with an email-verified, role-based complaint management platform. Built on SQLite, bcrypt password hashing, six-digit email OTP verification, session-based auth, complaint routing, comments, attachments and admin analytics.</a:t>
            </a:r>
            <a:endParaRPr lang="en-US" sz="1400" dirty="0"/>
          </a:p>
        </p:txBody>
      </p:sp>
      <p:sp>
        <p:nvSpPr>
          <p:cNvPr id="5" name="Shape 3"/>
          <p:cNvSpPr/>
          <p:nvPr/>
        </p:nvSpPr>
        <p:spPr>
          <a:xfrm>
            <a:off x="548640" y="3090672"/>
            <a:ext cx="146304" cy="146304"/>
          </a:xfrm>
          <a:prstGeom prst="ellipse">
            <a:avLst/>
          </a:prstGeom>
          <a:solidFill>
            <a:srgbClr val="2DD4BF"/>
          </a:solidFill>
          <a:ln/>
        </p:spPr>
      </p:sp>
      <p:sp>
        <p:nvSpPr>
          <p:cNvPr id="6" name="Text 4"/>
          <p:cNvSpPr/>
          <p:nvPr/>
        </p:nvSpPr>
        <p:spPr>
          <a:xfrm>
            <a:off x="822960" y="2953512"/>
            <a:ext cx="1828800" cy="365760"/>
          </a:xfrm>
          <a:prstGeom prst="rect">
            <a:avLst/>
          </a:prstGeom>
          <a:noFill/>
          <a:ln/>
        </p:spPr>
        <p:txBody>
          <a:bodyPr wrap="square" lIns="0" tIns="0" rIns="0" bIns="0"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Consumer</a:t>
            </a:r>
            <a:endParaRPr lang="en-US" sz="1400" dirty="0"/>
          </a:p>
        </p:txBody>
      </p:sp>
      <p:sp>
        <p:nvSpPr>
          <p:cNvPr id="7" name="Text 5"/>
          <p:cNvSpPr/>
          <p:nvPr/>
        </p:nvSpPr>
        <p:spPr>
          <a:xfrm>
            <a:off x="822960" y="3264408"/>
            <a:ext cx="603504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Registers under a manufacturing category, raises complaints, confirms or disputes resolution.</a:t>
            </a:r>
            <a:endParaRPr lang="en-US" sz="1150" dirty="0"/>
          </a:p>
        </p:txBody>
      </p:sp>
      <p:sp>
        <p:nvSpPr>
          <p:cNvPr id="8" name="Shape 6"/>
          <p:cNvSpPr/>
          <p:nvPr/>
        </p:nvSpPr>
        <p:spPr>
          <a:xfrm>
            <a:off x="548640" y="3959352"/>
            <a:ext cx="146304" cy="146304"/>
          </a:xfrm>
          <a:prstGeom prst="ellipse">
            <a:avLst/>
          </a:prstGeom>
          <a:solidFill>
            <a:srgbClr val="2DD4BF"/>
          </a:solidFill>
          <a:ln/>
        </p:spPr>
      </p:sp>
      <p:sp>
        <p:nvSpPr>
          <p:cNvPr id="9" name="Text 7"/>
          <p:cNvSpPr/>
          <p:nvPr/>
        </p:nvSpPr>
        <p:spPr>
          <a:xfrm>
            <a:off x="822960" y="3822192"/>
            <a:ext cx="1828800" cy="365760"/>
          </a:xfrm>
          <a:prstGeom prst="rect">
            <a:avLst/>
          </a:prstGeom>
          <a:noFill/>
          <a:ln/>
        </p:spPr>
        <p:txBody>
          <a:bodyPr wrap="square" lIns="0" tIns="0" rIns="0" bIns="0"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Vendor</a:t>
            </a:r>
            <a:endParaRPr lang="en-US" sz="1400" dirty="0"/>
          </a:p>
        </p:txBody>
      </p:sp>
      <p:sp>
        <p:nvSpPr>
          <p:cNvPr id="10" name="Text 8"/>
          <p:cNvSpPr/>
          <p:nvPr/>
        </p:nvSpPr>
        <p:spPr>
          <a:xfrm>
            <a:off x="822960" y="4133088"/>
            <a:ext cx="603504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Receives category-matched Product Issue cases and submits resolution remarks.</a:t>
            </a:r>
            <a:endParaRPr lang="en-US" sz="1150" dirty="0"/>
          </a:p>
        </p:txBody>
      </p:sp>
      <p:sp>
        <p:nvSpPr>
          <p:cNvPr id="11" name="Shape 9"/>
          <p:cNvSpPr/>
          <p:nvPr/>
        </p:nvSpPr>
        <p:spPr>
          <a:xfrm>
            <a:off x="548640" y="4828032"/>
            <a:ext cx="146304" cy="146304"/>
          </a:xfrm>
          <a:prstGeom prst="ellipse">
            <a:avLst/>
          </a:prstGeom>
          <a:solidFill>
            <a:srgbClr val="2DD4BF"/>
          </a:solidFill>
          <a:ln/>
        </p:spPr>
      </p:sp>
      <p:sp>
        <p:nvSpPr>
          <p:cNvPr id="12" name="Text 10"/>
          <p:cNvSpPr/>
          <p:nvPr/>
        </p:nvSpPr>
        <p:spPr>
          <a:xfrm>
            <a:off x="822960" y="4690872"/>
            <a:ext cx="1828800" cy="365760"/>
          </a:xfrm>
          <a:prstGeom prst="rect">
            <a:avLst/>
          </a:prstGeom>
          <a:noFill/>
          <a:ln/>
        </p:spPr>
        <p:txBody>
          <a:bodyPr wrap="square" lIns="0" tIns="0" rIns="0" bIns="0"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Administrator</a:t>
            </a:r>
            <a:endParaRPr lang="en-US" sz="1400" dirty="0"/>
          </a:p>
        </p:txBody>
      </p:sp>
      <p:sp>
        <p:nvSpPr>
          <p:cNvPr id="13" name="Text 11"/>
          <p:cNvSpPr/>
          <p:nvPr/>
        </p:nvSpPr>
        <p:spPr>
          <a:xfrm>
            <a:off x="822960" y="5001768"/>
            <a:ext cx="603504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Mediates assignment, manages direct complaints, and reviews platform-wide statistics.</a:t>
            </a:r>
            <a:endParaRPr lang="en-US" sz="1150" dirty="0"/>
          </a:p>
        </p:txBody>
      </p:sp>
      <p:sp>
        <p:nvSpPr>
          <p:cNvPr id="14" name="Shape 12"/>
          <p:cNvSpPr/>
          <p:nvPr/>
        </p:nvSpPr>
        <p:spPr>
          <a:xfrm>
            <a:off x="7452360" y="1417320"/>
            <a:ext cx="4160520" cy="4663440"/>
          </a:xfrm>
          <a:prstGeom prst="roundRect">
            <a:avLst>
              <a:gd name="adj" fmla="val 1758"/>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5" name="Text 13"/>
          <p:cNvSpPr/>
          <p:nvPr/>
        </p:nvSpPr>
        <p:spPr>
          <a:xfrm>
            <a:off x="7726680" y="1600200"/>
            <a:ext cx="3657600" cy="320040"/>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Evidence Snapshot</a:t>
            </a:r>
            <a:endParaRPr lang="en-US" sz="1300" dirty="0"/>
          </a:p>
        </p:txBody>
      </p:sp>
      <p:sp>
        <p:nvSpPr>
          <p:cNvPr id="16" name="Text 14"/>
          <p:cNvSpPr/>
          <p:nvPr/>
        </p:nvSpPr>
        <p:spPr>
          <a:xfrm>
            <a:off x="7726680" y="2103120"/>
            <a:ext cx="1188720" cy="548640"/>
          </a:xfrm>
          <a:prstGeom prst="rect">
            <a:avLst/>
          </a:prstGeom>
          <a:noFill/>
          <a:ln/>
        </p:spPr>
        <p:txBody>
          <a:bodyPr wrap="square" lIns="0" tIns="0" rIns="0" bIns="0" rtlCol="0" anchor="ctr"/>
          <a:lstStyle/>
          <a:p>
            <a:pPr indent="0" marL="0">
              <a:buNone/>
            </a:pPr>
            <a:r>
              <a:rPr lang="en-US" sz="3000" b="1" dirty="0">
                <a:solidFill>
                  <a:srgbClr val="F0B429"/>
                </a:solidFill>
                <a:latin typeface="Cambria" pitchFamily="34" charset="0"/>
                <a:ea typeface="Cambria" pitchFamily="34" charset="-122"/>
                <a:cs typeface="Cambria" pitchFamily="34" charset="-120"/>
              </a:rPr>
              <a:t>665</a:t>
            </a:r>
            <a:endParaRPr lang="en-US" sz="3000" dirty="0"/>
          </a:p>
        </p:txBody>
      </p:sp>
      <p:sp>
        <p:nvSpPr>
          <p:cNvPr id="17" name="Text 15"/>
          <p:cNvSpPr/>
          <p:nvPr/>
        </p:nvSpPr>
        <p:spPr>
          <a:xfrm>
            <a:off x="8915400" y="2176272"/>
            <a:ext cx="2514600" cy="50292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lines of backend source (server.js)</a:t>
            </a:r>
            <a:endParaRPr lang="en-US" sz="1100" dirty="0"/>
          </a:p>
        </p:txBody>
      </p:sp>
      <p:sp>
        <p:nvSpPr>
          <p:cNvPr id="18" name="Text 16"/>
          <p:cNvSpPr/>
          <p:nvPr/>
        </p:nvSpPr>
        <p:spPr>
          <a:xfrm>
            <a:off x="7726680" y="2880360"/>
            <a:ext cx="1188720" cy="548640"/>
          </a:xfrm>
          <a:prstGeom prst="rect">
            <a:avLst/>
          </a:prstGeom>
          <a:noFill/>
          <a:ln/>
        </p:spPr>
        <p:txBody>
          <a:bodyPr wrap="square" lIns="0" tIns="0" rIns="0" bIns="0" rtlCol="0" anchor="ctr"/>
          <a:lstStyle/>
          <a:p>
            <a:pPr indent="0" marL="0">
              <a:buNone/>
            </a:pPr>
            <a:r>
              <a:rPr lang="en-US" sz="3000" b="1" dirty="0">
                <a:solidFill>
                  <a:srgbClr val="F0B429"/>
                </a:solidFill>
                <a:latin typeface="Cambria" pitchFamily="34" charset="0"/>
                <a:ea typeface="Cambria" pitchFamily="34" charset="-122"/>
                <a:cs typeface="Cambria" pitchFamily="34" charset="-120"/>
              </a:rPr>
              <a:t>5</a:t>
            </a:r>
            <a:endParaRPr lang="en-US" sz="3000" dirty="0"/>
          </a:p>
        </p:txBody>
      </p:sp>
      <p:sp>
        <p:nvSpPr>
          <p:cNvPr id="19" name="Text 17"/>
          <p:cNvSpPr/>
          <p:nvPr/>
        </p:nvSpPr>
        <p:spPr>
          <a:xfrm>
            <a:off x="8915400" y="2953512"/>
            <a:ext cx="2514600" cy="50292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SQLite tables, fully constrained</a:t>
            </a:r>
            <a:endParaRPr lang="en-US" sz="1100" dirty="0"/>
          </a:p>
        </p:txBody>
      </p:sp>
      <p:sp>
        <p:nvSpPr>
          <p:cNvPr id="20" name="Text 18"/>
          <p:cNvSpPr/>
          <p:nvPr/>
        </p:nvSpPr>
        <p:spPr>
          <a:xfrm>
            <a:off x="7726680" y="3657600"/>
            <a:ext cx="1188720" cy="548640"/>
          </a:xfrm>
          <a:prstGeom prst="rect">
            <a:avLst/>
          </a:prstGeom>
          <a:noFill/>
          <a:ln/>
        </p:spPr>
        <p:txBody>
          <a:bodyPr wrap="square" lIns="0" tIns="0" rIns="0" bIns="0" rtlCol="0" anchor="ctr"/>
          <a:lstStyle/>
          <a:p>
            <a:pPr indent="0" marL="0">
              <a:buNone/>
            </a:pPr>
            <a:r>
              <a:rPr lang="en-US" sz="3000" b="1" dirty="0">
                <a:solidFill>
                  <a:srgbClr val="F0B429"/>
                </a:solidFill>
                <a:latin typeface="Cambria" pitchFamily="34" charset="0"/>
                <a:ea typeface="Cambria" pitchFamily="34" charset="-122"/>
                <a:cs typeface="Cambria" pitchFamily="34" charset="-120"/>
              </a:rPr>
              <a:t>4</a:t>
            </a:r>
            <a:endParaRPr lang="en-US" sz="3000" dirty="0"/>
          </a:p>
        </p:txBody>
      </p:sp>
      <p:sp>
        <p:nvSpPr>
          <p:cNvPr id="21" name="Text 19"/>
          <p:cNvSpPr/>
          <p:nvPr/>
        </p:nvSpPr>
        <p:spPr>
          <a:xfrm>
            <a:off x="8915400" y="3730752"/>
            <a:ext cx="2514600" cy="50292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manufacturing categories routed</a:t>
            </a:r>
            <a:endParaRPr lang="en-US" sz="1100" dirty="0"/>
          </a:p>
        </p:txBody>
      </p:sp>
      <p:sp>
        <p:nvSpPr>
          <p:cNvPr id="22" name="Text 20"/>
          <p:cNvSpPr/>
          <p:nvPr/>
        </p:nvSpPr>
        <p:spPr>
          <a:xfrm>
            <a:off x="7726680" y="4434840"/>
            <a:ext cx="1188720" cy="548640"/>
          </a:xfrm>
          <a:prstGeom prst="rect">
            <a:avLst/>
          </a:prstGeom>
          <a:noFill/>
          <a:ln/>
        </p:spPr>
        <p:txBody>
          <a:bodyPr wrap="square" lIns="0" tIns="0" rIns="0" bIns="0" rtlCol="0" anchor="ctr"/>
          <a:lstStyle/>
          <a:p>
            <a:pPr indent="0" marL="0">
              <a:buNone/>
            </a:pPr>
            <a:r>
              <a:rPr lang="en-US" sz="3000" b="1" dirty="0">
                <a:solidFill>
                  <a:srgbClr val="F0B429"/>
                </a:solidFill>
                <a:latin typeface="Cambria" pitchFamily="34" charset="0"/>
                <a:ea typeface="Cambria" pitchFamily="34" charset="-122"/>
                <a:cs typeface="Cambria" pitchFamily="34" charset="-120"/>
              </a:rPr>
              <a:t>5</a:t>
            </a:r>
            <a:endParaRPr lang="en-US" sz="3000" dirty="0"/>
          </a:p>
        </p:txBody>
      </p:sp>
      <p:sp>
        <p:nvSpPr>
          <p:cNvPr id="23" name="Text 21"/>
          <p:cNvSpPr/>
          <p:nvPr/>
        </p:nvSpPr>
        <p:spPr>
          <a:xfrm>
            <a:off x="8915400" y="4507992"/>
            <a:ext cx="2514600" cy="50292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complaint lifecycle states</a:t>
            </a:r>
            <a:endParaRPr lang="en-US" sz="1100" dirty="0"/>
          </a:p>
        </p:txBody>
      </p:sp>
      <p:sp>
        <p:nvSpPr>
          <p:cNvPr id="24" name="Text 22"/>
          <p:cNvSpPr/>
          <p:nvPr/>
        </p:nvSpPr>
        <p:spPr>
          <a:xfrm>
            <a:off x="7726680" y="5212080"/>
            <a:ext cx="1188720" cy="548640"/>
          </a:xfrm>
          <a:prstGeom prst="rect">
            <a:avLst/>
          </a:prstGeom>
          <a:noFill/>
          <a:ln/>
        </p:spPr>
        <p:txBody>
          <a:bodyPr wrap="square" lIns="0" tIns="0" rIns="0" bIns="0" rtlCol="0" anchor="ctr"/>
          <a:lstStyle/>
          <a:p>
            <a:pPr indent="0" marL="0">
              <a:buNone/>
            </a:pPr>
            <a:r>
              <a:rPr lang="en-US" sz="3000" b="1" dirty="0">
                <a:solidFill>
                  <a:srgbClr val="F0B429"/>
                </a:solidFill>
                <a:latin typeface="Cambria" pitchFamily="34" charset="0"/>
                <a:ea typeface="Cambria" pitchFamily="34" charset="-122"/>
                <a:cs typeface="Cambria" pitchFamily="34" charset="-120"/>
              </a:rPr>
              <a:t>19</a:t>
            </a:r>
            <a:endParaRPr lang="en-US" sz="3000" dirty="0"/>
          </a:p>
        </p:txBody>
      </p:sp>
      <p:sp>
        <p:nvSpPr>
          <p:cNvPr id="25" name="Text 23"/>
          <p:cNvSpPr/>
          <p:nvPr/>
        </p:nvSpPr>
        <p:spPr>
          <a:xfrm>
            <a:off x="8915400" y="5285232"/>
            <a:ext cx="2514600" cy="50292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REST API endpoints catalogued</a:t>
            </a:r>
            <a:endParaRPr lang="en-US" sz="1100" dirty="0"/>
          </a:p>
        </p:txBody>
      </p:sp>
      <p:sp>
        <p:nvSpPr>
          <p:cNvPr id="26" name="Text 24"/>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27" name="Text 25"/>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Eight Objectives, Each Backed by Implementation</a:t>
            </a:r>
            <a:endParaRPr lang="en-US" sz="3000" dirty="0"/>
          </a:p>
        </p:txBody>
      </p:sp>
      <p:sp>
        <p:nvSpPr>
          <p:cNvPr id="4" name="Shape 2"/>
          <p:cNvSpPr/>
          <p:nvPr/>
        </p:nvSpPr>
        <p:spPr>
          <a:xfrm>
            <a:off x="548640" y="1463040"/>
            <a:ext cx="5486400" cy="1078992"/>
          </a:xfrm>
          <a:prstGeom prst="roundRect">
            <a:avLst>
              <a:gd name="adj" fmla="val 6780"/>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13232" y="1627632"/>
            <a:ext cx="502920" cy="502920"/>
          </a:xfrm>
          <a:prstGeom prst="roundRect">
            <a:avLst>
              <a:gd name="adj" fmla="val 18182"/>
            </a:avLst>
          </a:prstGeom>
          <a:solidFill>
            <a:srgbClr val="111827"/>
          </a:solidFill>
          <a:ln w="12700">
            <a:solidFill>
              <a:srgbClr val="2DD4BF"/>
            </a:solidFill>
            <a:prstDash val="solid"/>
          </a:ln>
        </p:spPr>
      </p:sp>
      <p:sp>
        <p:nvSpPr>
          <p:cNvPr id="6" name="Text 4"/>
          <p:cNvSpPr/>
          <p:nvPr/>
        </p:nvSpPr>
        <p:spPr>
          <a:xfrm>
            <a:off x="713232" y="1627632"/>
            <a:ext cx="5029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mbria" pitchFamily="34" charset="0"/>
                <a:ea typeface="Cambria" pitchFamily="34" charset="-122"/>
                <a:cs typeface="Cambria" pitchFamily="34" charset="-120"/>
              </a:rPr>
              <a:t>O1</a:t>
            </a:r>
            <a:endParaRPr lang="en-US" sz="1500" dirty="0"/>
          </a:p>
        </p:txBody>
      </p:sp>
      <p:sp>
        <p:nvSpPr>
          <p:cNvPr id="7" name="Text 5"/>
          <p:cNvSpPr/>
          <p:nvPr/>
        </p:nvSpPr>
        <p:spPr>
          <a:xfrm>
            <a:off x="1371600" y="1581912"/>
            <a:ext cx="448056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Modern CEL website &amp; portal</a:t>
            </a:r>
            <a:endParaRPr lang="en-US" sz="1300" dirty="0"/>
          </a:p>
        </p:txBody>
      </p:sp>
      <p:sp>
        <p:nvSpPr>
          <p:cNvPr id="8" name="Text 6"/>
          <p:cNvSpPr/>
          <p:nvPr/>
        </p:nvSpPr>
        <p:spPr>
          <a:xfrm>
            <a:off x="1371600" y="1938528"/>
            <a:ext cx="4480560" cy="5486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README public feature set + Express static serving</a:t>
            </a:r>
            <a:endParaRPr lang="en-US" sz="1050" dirty="0"/>
          </a:p>
        </p:txBody>
      </p:sp>
      <p:sp>
        <p:nvSpPr>
          <p:cNvPr id="9" name="Shape 7"/>
          <p:cNvSpPr/>
          <p:nvPr/>
        </p:nvSpPr>
        <p:spPr>
          <a:xfrm>
            <a:off x="6309360" y="1463040"/>
            <a:ext cx="5486400" cy="1078992"/>
          </a:xfrm>
          <a:prstGeom prst="roundRect">
            <a:avLst>
              <a:gd name="adj" fmla="val 6780"/>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6473952" y="1627632"/>
            <a:ext cx="502920" cy="502920"/>
          </a:xfrm>
          <a:prstGeom prst="roundRect">
            <a:avLst>
              <a:gd name="adj" fmla="val 18182"/>
            </a:avLst>
          </a:prstGeom>
          <a:solidFill>
            <a:srgbClr val="111827"/>
          </a:solidFill>
          <a:ln w="12700">
            <a:solidFill>
              <a:srgbClr val="2DD4BF"/>
            </a:solidFill>
            <a:prstDash val="solid"/>
          </a:ln>
        </p:spPr>
      </p:sp>
      <p:sp>
        <p:nvSpPr>
          <p:cNvPr id="11" name="Text 9"/>
          <p:cNvSpPr/>
          <p:nvPr/>
        </p:nvSpPr>
        <p:spPr>
          <a:xfrm>
            <a:off x="6473952" y="1627632"/>
            <a:ext cx="5029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mbria" pitchFamily="34" charset="0"/>
                <a:ea typeface="Cambria" pitchFamily="34" charset="-122"/>
                <a:cs typeface="Cambria" pitchFamily="34" charset="-120"/>
              </a:rPr>
              <a:t>O2</a:t>
            </a:r>
            <a:endParaRPr lang="en-US" sz="1500" dirty="0"/>
          </a:p>
        </p:txBody>
      </p:sp>
      <p:sp>
        <p:nvSpPr>
          <p:cNvPr id="12" name="Text 10"/>
          <p:cNvSpPr/>
          <p:nvPr/>
        </p:nvSpPr>
        <p:spPr>
          <a:xfrm>
            <a:off x="7132320" y="1581912"/>
            <a:ext cx="448056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Secure registration &amp; login</a:t>
            </a:r>
            <a:endParaRPr lang="en-US" sz="1300" dirty="0"/>
          </a:p>
        </p:txBody>
      </p:sp>
      <p:sp>
        <p:nvSpPr>
          <p:cNvPr id="13" name="Text 11"/>
          <p:cNvSpPr/>
          <p:nvPr/>
        </p:nvSpPr>
        <p:spPr>
          <a:xfrm>
            <a:off x="7132320" y="1938528"/>
            <a:ext cx="4480560" cy="5486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bcrypt hashing, OTP verification, sessions, rate limits</a:t>
            </a:r>
            <a:endParaRPr lang="en-US" sz="1050" dirty="0"/>
          </a:p>
        </p:txBody>
      </p:sp>
      <p:sp>
        <p:nvSpPr>
          <p:cNvPr id="14" name="Shape 12"/>
          <p:cNvSpPr/>
          <p:nvPr/>
        </p:nvSpPr>
        <p:spPr>
          <a:xfrm>
            <a:off x="548640" y="2724912"/>
            <a:ext cx="5486400" cy="1078992"/>
          </a:xfrm>
          <a:prstGeom prst="roundRect">
            <a:avLst>
              <a:gd name="adj" fmla="val 6780"/>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5" name="Shape 13"/>
          <p:cNvSpPr/>
          <p:nvPr/>
        </p:nvSpPr>
        <p:spPr>
          <a:xfrm>
            <a:off x="713232" y="2889504"/>
            <a:ext cx="502920" cy="502920"/>
          </a:xfrm>
          <a:prstGeom prst="roundRect">
            <a:avLst>
              <a:gd name="adj" fmla="val 18182"/>
            </a:avLst>
          </a:prstGeom>
          <a:solidFill>
            <a:srgbClr val="111827"/>
          </a:solidFill>
          <a:ln w="12700">
            <a:solidFill>
              <a:srgbClr val="2DD4BF"/>
            </a:solidFill>
            <a:prstDash val="solid"/>
          </a:ln>
        </p:spPr>
      </p:sp>
      <p:sp>
        <p:nvSpPr>
          <p:cNvPr id="16" name="Text 14"/>
          <p:cNvSpPr/>
          <p:nvPr/>
        </p:nvSpPr>
        <p:spPr>
          <a:xfrm>
            <a:off x="713232" y="2889504"/>
            <a:ext cx="5029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mbria" pitchFamily="34" charset="0"/>
                <a:ea typeface="Cambria" pitchFamily="34" charset="-122"/>
                <a:cs typeface="Cambria" pitchFamily="34" charset="-120"/>
              </a:rPr>
              <a:t>O3</a:t>
            </a:r>
            <a:endParaRPr lang="en-US" sz="1500" dirty="0"/>
          </a:p>
        </p:txBody>
      </p:sp>
      <p:sp>
        <p:nvSpPr>
          <p:cNvPr id="17" name="Text 15"/>
          <p:cNvSpPr/>
          <p:nvPr/>
        </p:nvSpPr>
        <p:spPr>
          <a:xfrm>
            <a:off x="1371600" y="2843784"/>
            <a:ext cx="448056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Three operational personas</a:t>
            </a:r>
            <a:endParaRPr lang="en-US" sz="1300" dirty="0"/>
          </a:p>
        </p:txBody>
      </p:sp>
      <p:sp>
        <p:nvSpPr>
          <p:cNvPr id="18" name="Text 16"/>
          <p:cNvSpPr/>
          <p:nvPr/>
        </p:nvSpPr>
        <p:spPr>
          <a:xfrm>
            <a:off x="1371600" y="3200400"/>
            <a:ext cx="4480560" cy="5486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user_type &amp; role columns + middleware checks</a:t>
            </a:r>
            <a:endParaRPr lang="en-US" sz="1050" dirty="0"/>
          </a:p>
        </p:txBody>
      </p:sp>
      <p:sp>
        <p:nvSpPr>
          <p:cNvPr id="19" name="Shape 17"/>
          <p:cNvSpPr/>
          <p:nvPr/>
        </p:nvSpPr>
        <p:spPr>
          <a:xfrm>
            <a:off x="6309360" y="2724912"/>
            <a:ext cx="5486400" cy="1078992"/>
          </a:xfrm>
          <a:prstGeom prst="roundRect">
            <a:avLst>
              <a:gd name="adj" fmla="val 6780"/>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0" name="Shape 18"/>
          <p:cNvSpPr/>
          <p:nvPr/>
        </p:nvSpPr>
        <p:spPr>
          <a:xfrm>
            <a:off x="6473952" y="2889504"/>
            <a:ext cx="502920" cy="502920"/>
          </a:xfrm>
          <a:prstGeom prst="roundRect">
            <a:avLst>
              <a:gd name="adj" fmla="val 18182"/>
            </a:avLst>
          </a:prstGeom>
          <a:solidFill>
            <a:srgbClr val="111827"/>
          </a:solidFill>
          <a:ln w="12700">
            <a:solidFill>
              <a:srgbClr val="2DD4BF"/>
            </a:solidFill>
            <a:prstDash val="solid"/>
          </a:ln>
        </p:spPr>
      </p:sp>
      <p:sp>
        <p:nvSpPr>
          <p:cNvPr id="21" name="Text 19"/>
          <p:cNvSpPr/>
          <p:nvPr/>
        </p:nvSpPr>
        <p:spPr>
          <a:xfrm>
            <a:off x="6473952" y="2889504"/>
            <a:ext cx="5029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mbria" pitchFamily="34" charset="0"/>
                <a:ea typeface="Cambria" pitchFamily="34" charset="-122"/>
                <a:cs typeface="Cambria" pitchFamily="34" charset="-120"/>
              </a:rPr>
              <a:t>O4</a:t>
            </a:r>
            <a:endParaRPr lang="en-US" sz="1500" dirty="0"/>
          </a:p>
        </p:txBody>
      </p:sp>
      <p:sp>
        <p:nvSpPr>
          <p:cNvPr id="22" name="Text 20"/>
          <p:cNvSpPr/>
          <p:nvPr/>
        </p:nvSpPr>
        <p:spPr>
          <a:xfrm>
            <a:off x="7132320" y="2843784"/>
            <a:ext cx="448056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Category-safe complaint routing</a:t>
            </a:r>
            <a:endParaRPr lang="en-US" sz="1300" dirty="0"/>
          </a:p>
        </p:txBody>
      </p:sp>
      <p:sp>
        <p:nvSpPr>
          <p:cNvPr id="23" name="Text 21"/>
          <p:cNvSpPr/>
          <p:nvPr/>
        </p:nvSpPr>
        <p:spPr>
          <a:xfrm>
            <a:off x="7132320" y="3200400"/>
            <a:ext cx="4480560" cy="5486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Category inherited from authenticated user profile</a:t>
            </a:r>
            <a:endParaRPr lang="en-US" sz="1050" dirty="0"/>
          </a:p>
        </p:txBody>
      </p:sp>
      <p:sp>
        <p:nvSpPr>
          <p:cNvPr id="24" name="Shape 22"/>
          <p:cNvSpPr/>
          <p:nvPr/>
        </p:nvSpPr>
        <p:spPr>
          <a:xfrm>
            <a:off x="548640" y="3986784"/>
            <a:ext cx="5486400" cy="1078992"/>
          </a:xfrm>
          <a:prstGeom prst="roundRect">
            <a:avLst>
              <a:gd name="adj" fmla="val 6780"/>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5" name="Shape 23"/>
          <p:cNvSpPr/>
          <p:nvPr/>
        </p:nvSpPr>
        <p:spPr>
          <a:xfrm>
            <a:off x="713232" y="4151376"/>
            <a:ext cx="502920" cy="502920"/>
          </a:xfrm>
          <a:prstGeom prst="roundRect">
            <a:avLst>
              <a:gd name="adj" fmla="val 18182"/>
            </a:avLst>
          </a:prstGeom>
          <a:solidFill>
            <a:srgbClr val="111827"/>
          </a:solidFill>
          <a:ln w="12700">
            <a:solidFill>
              <a:srgbClr val="2DD4BF"/>
            </a:solidFill>
            <a:prstDash val="solid"/>
          </a:ln>
        </p:spPr>
      </p:sp>
      <p:sp>
        <p:nvSpPr>
          <p:cNvPr id="26" name="Text 24"/>
          <p:cNvSpPr/>
          <p:nvPr/>
        </p:nvSpPr>
        <p:spPr>
          <a:xfrm>
            <a:off x="713232" y="4151376"/>
            <a:ext cx="5029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mbria" pitchFamily="34" charset="0"/>
                <a:ea typeface="Cambria" pitchFamily="34" charset="-122"/>
                <a:cs typeface="Cambria" pitchFamily="34" charset="-120"/>
              </a:rPr>
              <a:t>O5</a:t>
            </a:r>
            <a:endParaRPr lang="en-US" sz="1500" dirty="0"/>
          </a:p>
        </p:txBody>
      </p:sp>
      <p:sp>
        <p:nvSpPr>
          <p:cNvPr id="27" name="Text 25"/>
          <p:cNvSpPr/>
          <p:nvPr/>
        </p:nvSpPr>
        <p:spPr>
          <a:xfrm>
            <a:off x="1371600" y="4105656"/>
            <a:ext cx="448056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Auditable complaint lifecycle</a:t>
            </a:r>
            <a:endParaRPr lang="en-US" sz="1300" dirty="0"/>
          </a:p>
        </p:txBody>
      </p:sp>
      <p:sp>
        <p:nvSpPr>
          <p:cNvPr id="28" name="Text 26"/>
          <p:cNvSpPr/>
          <p:nvPr/>
        </p:nvSpPr>
        <p:spPr>
          <a:xfrm>
            <a:off x="1371600" y="4462272"/>
            <a:ext cx="4480560" cy="5486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Status model, timestamps, remarks, comments</a:t>
            </a:r>
            <a:endParaRPr lang="en-US" sz="1050" dirty="0"/>
          </a:p>
        </p:txBody>
      </p:sp>
      <p:sp>
        <p:nvSpPr>
          <p:cNvPr id="29" name="Shape 27"/>
          <p:cNvSpPr/>
          <p:nvPr/>
        </p:nvSpPr>
        <p:spPr>
          <a:xfrm>
            <a:off x="6309360" y="3986784"/>
            <a:ext cx="5486400" cy="1078992"/>
          </a:xfrm>
          <a:prstGeom prst="roundRect">
            <a:avLst>
              <a:gd name="adj" fmla="val 6780"/>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30" name="Shape 28"/>
          <p:cNvSpPr/>
          <p:nvPr/>
        </p:nvSpPr>
        <p:spPr>
          <a:xfrm>
            <a:off x="6473952" y="4151376"/>
            <a:ext cx="502920" cy="502920"/>
          </a:xfrm>
          <a:prstGeom prst="roundRect">
            <a:avLst>
              <a:gd name="adj" fmla="val 18182"/>
            </a:avLst>
          </a:prstGeom>
          <a:solidFill>
            <a:srgbClr val="111827"/>
          </a:solidFill>
          <a:ln w="12700">
            <a:solidFill>
              <a:srgbClr val="2DD4BF"/>
            </a:solidFill>
            <a:prstDash val="solid"/>
          </a:ln>
        </p:spPr>
      </p:sp>
      <p:sp>
        <p:nvSpPr>
          <p:cNvPr id="31" name="Text 29"/>
          <p:cNvSpPr/>
          <p:nvPr/>
        </p:nvSpPr>
        <p:spPr>
          <a:xfrm>
            <a:off x="6473952" y="4151376"/>
            <a:ext cx="5029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mbria" pitchFamily="34" charset="0"/>
                <a:ea typeface="Cambria" pitchFamily="34" charset="-122"/>
                <a:cs typeface="Cambria" pitchFamily="34" charset="-120"/>
              </a:rPr>
              <a:t>O6</a:t>
            </a:r>
            <a:endParaRPr lang="en-US" sz="1500" dirty="0"/>
          </a:p>
        </p:txBody>
      </p:sp>
      <p:sp>
        <p:nvSpPr>
          <p:cNvPr id="32" name="Text 30"/>
          <p:cNvSpPr/>
          <p:nvPr/>
        </p:nvSpPr>
        <p:spPr>
          <a:xfrm>
            <a:off x="7132320" y="4105656"/>
            <a:ext cx="448056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Supporting attachments</a:t>
            </a:r>
            <a:endParaRPr lang="en-US" sz="1300" dirty="0"/>
          </a:p>
        </p:txBody>
      </p:sp>
      <p:sp>
        <p:nvSpPr>
          <p:cNvPr id="33" name="Text 31"/>
          <p:cNvSpPr/>
          <p:nvPr/>
        </p:nvSpPr>
        <p:spPr>
          <a:xfrm>
            <a:off x="7132320" y="4462272"/>
            <a:ext cx="4480560" cy="5486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Multer disk storage, extension whitelist, 5 MB limit</a:t>
            </a:r>
            <a:endParaRPr lang="en-US" sz="1050" dirty="0"/>
          </a:p>
        </p:txBody>
      </p:sp>
      <p:sp>
        <p:nvSpPr>
          <p:cNvPr id="34" name="Shape 32"/>
          <p:cNvSpPr/>
          <p:nvPr/>
        </p:nvSpPr>
        <p:spPr>
          <a:xfrm>
            <a:off x="548640" y="5248656"/>
            <a:ext cx="5486400" cy="1078992"/>
          </a:xfrm>
          <a:prstGeom prst="roundRect">
            <a:avLst>
              <a:gd name="adj" fmla="val 6780"/>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35" name="Shape 33"/>
          <p:cNvSpPr/>
          <p:nvPr/>
        </p:nvSpPr>
        <p:spPr>
          <a:xfrm>
            <a:off x="713232" y="5413248"/>
            <a:ext cx="502920" cy="502920"/>
          </a:xfrm>
          <a:prstGeom prst="roundRect">
            <a:avLst>
              <a:gd name="adj" fmla="val 18182"/>
            </a:avLst>
          </a:prstGeom>
          <a:solidFill>
            <a:srgbClr val="111827"/>
          </a:solidFill>
          <a:ln w="12700">
            <a:solidFill>
              <a:srgbClr val="2DD4BF"/>
            </a:solidFill>
            <a:prstDash val="solid"/>
          </a:ln>
        </p:spPr>
      </p:sp>
      <p:sp>
        <p:nvSpPr>
          <p:cNvPr id="36" name="Text 34"/>
          <p:cNvSpPr/>
          <p:nvPr/>
        </p:nvSpPr>
        <p:spPr>
          <a:xfrm>
            <a:off x="713232" y="5413248"/>
            <a:ext cx="5029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mbria" pitchFamily="34" charset="0"/>
                <a:ea typeface="Cambria" pitchFamily="34" charset="-122"/>
                <a:cs typeface="Cambria" pitchFamily="34" charset="-120"/>
              </a:rPr>
              <a:t>O7</a:t>
            </a:r>
            <a:endParaRPr lang="en-US" sz="1500" dirty="0"/>
          </a:p>
        </p:txBody>
      </p:sp>
      <p:sp>
        <p:nvSpPr>
          <p:cNvPr id="37" name="Text 35"/>
          <p:cNvSpPr/>
          <p:nvPr/>
        </p:nvSpPr>
        <p:spPr>
          <a:xfrm>
            <a:off x="1371600" y="5367528"/>
            <a:ext cx="448056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Administrative reporting</a:t>
            </a:r>
            <a:endParaRPr lang="en-US" sz="1300" dirty="0"/>
          </a:p>
        </p:txBody>
      </p:sp>
      <p:sp>
        <p:nvSpPr>
          <p:cNvPr id="38" name="Text 36"/>
          <p:cNvSpPr/>
          <p:nvPr/>
        </p:nvSpPr>
        <p:spPr>
          <a:xfrm>
            <a:off x="1371600" y="5724144"/>
            <a:ext cx="4480560" cy="5486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Pagination, filters, summaries, statistics endpoints</a:t>
            </a:r>
            <a:endParaRPr lang="en-US" sz="1050" dirty="0"/>
          </a:p>
        </p:txBody>
      </p:sp>
      <p:sp>
        <p:nvSpPr>
          <p:cNvPr id="39" name="Shape 37"/>
          <p:cNvSpPr/>
          <p:nvPr/>
        </p:nvSpPr>
        <p:spPr>
          <a:xfrm>
            <a:off x="6309360" y="5248656"/>
            <a:ext cx="5486400" cy="1078992"/>
          </a:xfrm>
          <a:prstGeom prst="roundRect">
            <a:avLst>
              <a:gd name="adj" fmla="val 6780"/>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40" name="Shape 38"/>
          <p:cNvSpPr/>
          <p:nvPr/>
        </p:nvSpPr>
        <p:spPr>
          <a:xfrm>
            <a:off x="6473952" y="5413248"/>
            <a:ext cx="502920" cy="502920"/>
          </a:xfrm>
          <a:prstGeom prst="roundRect">
            <a:avLst>
              <a:gd name="adj" fmla="val 18182"/>
            </a:avLst>
          </a:prstGeom>
          <a:solidFill>
            <a:srgbClr val="111827"/>
          </a:solidFill>
          <a:ln w="12700">
            <a:solidFill>
              <a:srgbClr val="2DD4BF"/>
            </a:solidFill>
            <a:prstDash val="solid"/>
          </a:ln>
        </p:spPr>
      </p:sp>
      <p:sp>
        <p:nvSpPr>
          <p:cNvPr id="41" name="Text 39"/>
          <p:cNvSpPr/>
          <p:nvPr/>
        </p:nvSpPr>
        <p:spPr>
          <a:xfrm>
            <a:off x="6473952" y="5413248"/>
            <a:ext cx="502920" cy="502920"/>
          </a:xfrm>
          <a:prstGeom prst="rect">
            <a:avLst/>
          </a:prstGeom>
          <a:noFill/>
          <a:ln/>
        </p:spPr>
        <p:txBody>
          <a:bodyPr wrap="square" lIns="0" tIns="0" rIns="0" bIns="0" rtlCol="0" anchor="ctr"/>
          <a:lstStyle/>
          <a:p>
            <a:pPr algn="ctr" indent="0" marL="0">
              <a:buNone/>
            </a:pPr>
            <a:r>
              <a:rPr lang="en-US" sz="1500" b="1" dirty="0">
                <a:solidFill>
                  <a:srgbClr val="2DD4BF"/>
                </a:solidFill>
                <a:latin typeface="Cambria" pitchFamily="34" charset="0"/>
                <a:ea typeface="Cambria" pitchFamily="34" charset="-122"/>
                <a:cs typeface="Cambria" pitchFamily="34" charset="-120"/>
              </a:rPr>
              <a:t>O8</a:t>
            </a:r>
            <a:endParaRPr lang="en-US" sz="1500" dirty="0"/>
          </a:p>
        </p:txBody>
      </p:sp>
      <p:sp>
        <p:nvSpPr>
          <p:cNvPr id="42" name="Text 40"/>
          <p:cNvSpPr/>
          <p:nvPr/>
        </p:nvSpPr>
        <p:spPr>
          <a:xfrm>
            <a:off x="7132320" y="5367528"/>
            <a:ext cx="448056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Simple to demonstrate &amp; hand over</a:t>
            </a:r>
            <a:endParaRPr lang="en-US" sz="1300" dirty="0"/>
          </a:p>
        </p:txBody>
      </p:sp>
      <p:sp>
        <p:nvSpPr>
          <p:cNvPr id="43" name="Text 41"/>
          <p:cNvSpPr/>
          <p:nvPr/>
        </p:nvSpPr>
        <p:spPr>
          <a:xfrm>
            <a:off x="7132320" y="5724144"/>
            <a:ext cx="4480560" cy="54864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Single Node.js process + local SQLite database</a:t>
            </a:r>
            <a:endParaRPr lang="en-US" sz="1050" dirty="0"/>
          </a:p>
        </p:txBody>
      </p:sp>
      <p:sp>
        <p:nvSpPr>
          <p:cNvPr id="44" name="Text 42"/>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45" name="Text 43"/>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TECHNOLOGIES USED</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Verified Stack — package.json &amp; Lockfile</a:t>
            </a:r>
            <a:endParaRPr lang="en-US" sz="3000" dirty="0"/>
          </a:p>
        </p:txBody>
      </p:sp>
      <p:sp>
        <p:nvSpPr>
          <p:cNvPr id="4" name="Text 2"/>
          <p:cNvSpPr/>
          <p:nvPr/>
        </p:nvSpPr>
        <p:spPr>
          <a:xfrm>
            <a:off x="548640" y="1508760"/>
            <a:ext cx="2926080" cy="457200"/>
          </a:xfrm>
          <a:prstGeom prst="rect">
            <a:avLst/>
          </a:prstGeom>
          <a:noFill/>
          <a:ln/>
        </p:spPr>
        <p:txBody>
          <a:bodyPr wrap="square" lIns="0" tIns="1905" rIns="0" bIns="0"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Package</a:t>
            </a:r>
            <a:endParaRPr lang="en-US" sz="1200" dirty="0"/>
          </a:p>
        </p:txBody>
      </p:sp>
      <p:sp>
        <p:nvSpPr>
          <p:cNvPr id="5" name="Text 3"/>
          <p:cNvSpPr/>
          <p:nvPr/>
        </p:nvSpPr>
        <p:spPr>
          <a:xfrm>
            <a:off x="3474720" y="1508760"/>
            <a:ext cx="1828800" cy="457200"/>
          </a:xfrm>
          <a:prstGeom prst="rect">
            <a:avLst/>
          </a:prstGeom>
          <a:noFill/>
          <a:ln/>
        </p:spPr>
        <p:txBody>
          <a:bodyPr wrap="square" lIns="0" tIns="1905" rIns="0" bIns="0"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Declared</a:t>
            </a:r>
            <a:endParaRPr lang="en-US" sz="1200" dirty="0"/>
          </a:p>
        </p:txBody>
      </p:sp>
      <p:sp>
        <p:nvSpPr>
          <p:cNvPr id="6" name="Text 4"/>
          <p:cNvSpPr/>
          <p:nvPr/>
        </p:nvSpPr>
        <p:spPr>
          <a:xfrm>
            <a:off x="5303520" y="1508760"/>
            <a:ext cx="1828800" cy="457200"/>
          </a:xfrm>
          <a:prstGeom prst="rect">
            <a:avLst/>
          </a:prstGeom>
          <a:noFill/>
          <a:ln/>
        </p:spPr>
        <p:txBody>
          <a:bodyPr wrap="square" lIns="0" tIns="1905" rIns="0" bIns="0"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Locked</a:t>
            </a:r>
            <a:endParaRPr lang="en-US" sz="1200" dirty="0"/>
          </a:p>
        </p:txBody>
      </p:sp>
      <p:sp>
        <p:nvSpPr>
          <p:cNvPr id="7" name="Text 5"/>
          <p:cNvSpPr/>
          <p:nvPr/>
        </p:nvSpPr>
        <p:spPr>
          <a:xfrm>
            <a:off x="7132320" y="1508760"/>
            <a:ext cx="4572000" cy="457200"/>
          </a:xfrm>
          <a:prstGeom prst="rect">
            <a:avLst/>
          </a:prstGeom>
          <a:noFill/>
          <a:ln/>
        </p:spPr>
        <p:txBody>
          <a:bodyPr wrap="square" lIns="0" tIns="1905" rIns="0" bIns="0"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Purpose</a:t>
            </a:r>
            <a:endParaRPr lang="en-US" sz="1200" dirty="0"/>
          </a:p>
        </p:txBody>
      </p:sp>
      <p:sp>
        <p:nvSpPr>
          <p:cNvPr id="8" name="Text 6"/>
          <p:cNvSpPr/>
          <p:nvPr/>
        </p:nvSpPr>
        <p:spPr>
          <a:xfrm>
            <a:off x="548640" y="1965960"/>
            <a:ext cx="2926080" cy="457200"/>
          </a:xfrm>
          <a:prstGeom prst="rect">
            <a:avLst/>
          </a:prstGeom>
          <a:noFill/>
          <a:ln/>
        </p:spPr>
        <p:txBody>
          <a:bodyPr wrap="square" lIns="0" tIns="1905"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express</a:t>
            </a:r>
            <a:endParaRPr lang="en-US" sz="1150" dirty="0"/>
          </a:p>
        </p:txBody>
      </p:sp>
      <p:sp>
        <p:nvSpPr>
          <p:cNvPr id="9" name="Text 7"/>
          <p:cNvSpPr/>
          <p:nvPr/>
        </p:nvSpPr>
        <p:spPr>
          <a:xfrm>
            <a:off x="3474720" y="19659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^4.21.2</a:t>
            </a:r>
            <a:endParaRPr lang="en-US" sz="1150" dirty="0"/>
          </a:p>
        </p:txBody>
      </p:sp>
      <p:sp>
        <p:nvSpPr>
          <p:cNvPr id="10" name="Text 8"/>
          <p:cNvSpPr/>
          <p:nvPr/>
        </p:nvSpPr>
        <p:spPr>
          <a:xfrm>
            <a:off x="5303520" y="19659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4.22.2</a:t>
            </a:r>
            <a:endParaRPr lang="en-US" sz="1150" dirty="0"/>
          </a:p>
        </p:txBody>
      </p:sp>
      <p:sp>
        <p:nvSpPr>
          <p:cNvPr id="11" name="Text 9"/>
          <p:cNvSpPr/>
          <p:nvPr/>
        </p:nvSpPr>
        <p:spPr>
          <a:xfrm>
            <a:off x="7132320" y="1965960"/>
            <a:ext cx="45720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HTTP server &amp; REST routing</a:t>
            </a:r>
            <a:endParaRPr lang="en-US" sz="1150" dirty="0"/>
          </a:p>
        </p:txBody>
      </p:sp>
      <p:sp>
        <p:nvSpPr>
          <p:cNvPr id="12" name="Shape 10"/>
          <p:cNvSpPr/>
          <p:nvPr/>
        </p:nvSpPr>
        <p:spPr>
          <a:xfrm>
            <a:off x="548640" y="2423160"/>
            <a:ext cx="11155680" cy="457200"/>
          </a:xfrm>
          <a:prstGeom prst="rect">
            <a:avLst/>
          </a:prstGeom>
          <a:solidFill>
            <a:srgbClr val="18202F"/>
          </a:solidFill>
          <a:ln/>
        </p:spPr>
      </p:sp>
      <p:sp>
        <p:nvSpPr>
          <p:cNvPr id="13" name="Text 11"/>
          <p:cNvSpPr/>
          <p:nvPr/>
        </p:nvSpPr>
        <p:spPr>
          <a:xfrm>
            <a:off x="548640" y="2423160"/>
            <a:ext cx="2926080" cy="457200"/>
          </a:xfrm>
          <a:prstGeom prst="rect">
            <a:avLst/>
          </a:prstGeom>
          <a:noFill/>
          <a:ln/>
        </p:spPr>
        <p:txBody>
          <a:bodyPr wrap="square" lIns="0" tIns="1905"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better-sqlite3</a:t>
            </a:r>
            <a:endParaRPr lang="en-US" sz="1150" dirty="0"/>
          </a:p>
        </p:txBody>
      </p:sp>
      <p:sp>
        <p:nvSpPr>
          <p:cNvPr id="14" name="Text 12"/>
          <p:cNvSpPr/>
          <p:nvPr/>
        </p:nvSpPr>
        <p:spPr>
          <a:xfrm>
            <a:off x="3474720" y="24231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^11.7.0</a:t>
            </a:r>
            <a:endParaRPr lang="en-US" sz="1150" dirty="0"/>
          </a:p>
        </p:txBody>
      </p:sp>
      <p:sp>
        <p:nvSpPr>
          <p:cNvPr id="15" name="Text 13"/>
          <p:cNvSpPr/>
          <p:nvPr/>
        </p:nvSpPr>
        <p:spPr>
          <a:xfrm>
            <a:off x="5303520" y="24231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11.10.0</a:t>
            </a:r>
            <a:endParaRPr lang="en-US" sz="1150" dirty="0"/>
          </a:p>
        </p:txBody>
      </p:sp>
      <p:sp>
        <p:nvSpPr>
          <p:cNvPr id="16" name="Text 14"/>
          <p:cNvSpPr/>
          <p:nvPr/>
        </p:nvSpPr>
        <p:spPr>
          <a:xfrm>
            <a:off x="7132320" y="2423160"/>
            <a:ext cx="45720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Synchronous SQLite access</a:t>
            </a:r>
            <a:endParaRPr lang="en-US" sz="1150" dirty="0"/>
          </a:p>
        </p:txBody>
      </p:sp>
      <p:sp>
        <p:nvSpPr>
          <p:cNvPr id="17" name="Text 15"/>
          <p:cNvSpPr/>
          <p:nvPr/>
        </p:nvSpPr>
        <p:spPr>
          <a:xfrm>
            <a:off x="548640" y="2880360"/>
            <a:ext cx="2926080" cy="457200"/>
          </a:xfrm>
          <a:prstGeom prst="rect">
            <a:avLst/>
          </a:prstGeom>
          <a:noFill/>
          <a:ln/>
        </p:spPr>
        <p:txBody>
          <a:bodyPr wrap="square" lIns="0" tIns="1905"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bcryptjs</a:t>
            </a:r>
            <a:endParaRPr lang="en-US" sz="1150" dirty="0"/>
          </a:p>
        </p:txBody>
      </p:sp>
      <p:sp>
        <p:nvSpPr>
          <p:cNvPr id="18" name="Text 16"/>
          <p:cNvSpPr/>
          <p:nvPr/>
        </p:nvSpPr>
        <p:spPr>
          <a:xfrm>
            <a:off x="3474720" y="28803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^2.4.3</a:t>
            </a:r>
            <a:endParaRPr lang="en-US" sz="1150" dirty="0"/>
          </a:p>
        </p:txBody>
      </p:sp>
      <p:sp>
        <p:nvSpPr>
          <p:cNvPr id="19" name="Text 17"/>
          <p:cNvSpPr/>
          <p:nvPr/>
        </p:nvSpPr>
        <p:spPr>
          <a:xfrm>
            <a:off x="5303520" y="28803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2.4.3</a:t>
            </a:r>
            <a:endParaRPr lang="en-US" sz="1150" dirty="0"/>
          </a:p>
        </p:txBody>
      </p:sp>
      <p:sp>
        <p:nvSpPr>
          <p:cNvPr id="20" name="Text 18"/>
          <p:cNvSpPr/>
          <p:nvPr/>
        </p:nvSpPr>
        <p:spPr>
          <a:xfrm>
            <a:off x="7132320" y="2880360"/>
            <a:ext cx="45720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Password hashing (cost factor 12)</a:t>
            </a:r>
            <a:endParaRPr lang="en-US" sz="1150" dirty="0"/>
          </a:p>
        </p:txBody>
      </p:sp>
      <p:sp>
        <p:nvSpPr>
          <p:cNvPr id="21" name="Shape 19"/>
          <p:cNvSpPr/>
          <p:nvPr/>
        </p:nvSpPr>
        <p:spPr>
          <a:xfrm>
            <a:off x="548640" y="3337560"/>
            <a:ext cx="11155680" cy="457200"/>
          </a:xfrm>
          <a:prstGeom prst="rect">
            <a:avLst/>
          </a:prstGeom>
          <a:solidFill>
            <a:srgbClr val="18202F"/>
          </a:solidFill>
          <a:ln/>
        </p:spPr>
      </p:sp>
      <p:sp>
        <p:nvSpPr>
          <p:cNvPr id="22" name="Text 20"/>
          <p:cNvSpPr/>
          <p:nvPr/>
        </p:nvSpPr>
        <p:spPr>
          <a:xfrm>
            <a:off x="548640" y="3337560"/>
            <a:ext cx="2926080" cy="457200"/>
          </a:xfrm>
          <a:prstGeom prst="rect">
            <a:avLst/>
          </a:prstGeom>
          <a:noFill/>
          <a:ln/>
        </p:spPr>
        <p:txBody>
          <a:bodyPr wrap="square" lIns="0" tIns="1905"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express-session</a:t>
            </a:r>
            <a:endParaRPr lang="en-US" sz="1150" dirty="0"/>
          </a:p>
        </p:txBody>
      </p:sp>
      <p:sp>
        <p:nvSpPr>
          <p:cNvPr id="23" name="Text 21"/>
          <p:cNvSpPr/>
          <p:nvPr/>
        </p:nvSpPr>
        <p:spPr>
          <a:xfrm>
            <a:off x="3474720" y="33375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^1.18.1</a:t>
            </a:r>
            <a:endParaRPr lang="en-US" sz="1150" dirty="0"/>
          </a:p>
        </p:txBody>
      </p:sp>
      <p:sp>
        <p:nvSpPr>
          <p:cNvPr id="24" name="Text 22"/>
          <p:cNvSpPr/>
          <p:nvPr/>
        </p:nvSpPr>
        <p:spPr>
          <a:xfrm>
            <a:off x="5303520" y="33375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1.19.0</a:t>
            </a:r>
            <a:endParaRPr lang="en-US" sz="1150" dirty="0"/>
          </a:p>
        </p:txBody>
      </p:sp>
      <p:sp>
        <p:nvSpPr>
          <p:cNvPr id="25" name="Text 23"/>
          <p:cNvSpPr/>
          <p:nvPr/>
        </p:nvSpPr>
        <p:spPr>
          <a:xfrm>
            <a:off x="7132320" y="3337560"/>
            <a:ext cx="45720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Cookie-based server sessions</a:t>
            </a:r>
            <a:endParaRPr lang="en-US" sz="1150" dirty="0"/>
          </a:p>
        </p:txBody>
      </p:sp>
      <p:sp>
        <p:nvSpPr>
          <p:cNvPr id="26" name="Text 24"/>
          <p:cNvSpPr/>
          <p:nvPr/>
        </p:nvSpPr>
        <p:spPr>
          <a:xfrm>
            <a:off x="548640" y="3794760"/>
            <a:ext cx="2926080" cy="457200"/>
          </a:xfrm>
          <a:prstGeom prst="rect">
            <a:avLst/>
          </a:prstGeom>
          <a:noFill/>
          <a:ln/>
        </p:spPr>
        <p:txBody>
          <a:bodyPr wrap="square" lIns="0" tIns="1905"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express-rate-limit</a:t>
            </a:r>
            <a:endParaRPr lang="en-US" sz="1150" dirty="0"/>
          </a:p>
        </p:txBody>
      </p:sp>
      <p:sp>
        <p:nvSpPr>
          <p:cNvPr id="27" name="Text 25"/>
          <p:cNvSpPr/>
          <p:nvPr/>
        </p:nvSpPr>
        <p:spPr>
          <a:xfrm>
            <a:off x="3474720" y="37947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^7.5.0</a:t>
            </a:r>
            <a:endParaRPr lang="en-US" sz="1150" dirty="0"/>
          </a:p>
        </p:txBody>
      </p:sp>
      <p:sp>
        <p:nvSpPr>
          <p:cNvPr id="28" name="Text 26"/>
          <p:cNvSpPr/>
          <p:nvPr/>
        </p:nvSpPr>
        <p:spPr>
          <a:xfrm>
            <a:off x="5303520" y="37947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7.5.1</a:t>
            </a:r>
            <a:endParaRPr lang="en-US" sz="1150" dirty="0"/>
          </a:p>
        </p:txBody>
      </p:sp>
      <p:sp>
        <p:nvSpPr>
          <p:cNvPr id="29" name="Text 27"/>
          <p:cNvSpPr/>
          <p:nvPr/>
        </p:nvSpPr>
        <p:spPr>
          <a:xfrm>
            <a:off x="7132320" y="3794760"/>
            <a:ext cx="45720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Auth &amp; OTP throttling</a:t>
            </a:r>
            <a:endParaRPr lang="en-US" sz="1150" dirty="0"/>
          </a:p>
        </p:txBody>
      </p:sp>
      <p:sp>
        <p:nvSpPr>
          <p:cNvPr id="30" name="Shape 28"/>
          <p:cNvSpPr/>
          <p:nvPr/>
        </p:nvSpPr>
        <p:spPr>
          <a:xfrm>
            <a:off x="548640" y="4251960"/>
            <a:ext cx="11155680" cy="457200"/>
          </a:xfrm>
          <a:prstGeom prst="rect">
            <a:avLst/>
          </a:prstGeom>
          <a:solidFill>
            <a:srgbClr val="18202F"/>
          </a:solidFill>
          <a:ln/>
        </p:spPr>
      </p:sp>
      <p:sp>
        <p:nvSpPr>
          <p:cNvPr id="31" name="Text 29"/>
          <p:cNvSpPr/>
          <p:nvPr/>
        </p:nvSpPr>
        <p:spPr>
          <a:xfrm>
            <a:off x="548640" y="4251960"/>
            <a:ext cx="2926080" cy="457200"/>
          </a:xfrm>
          <a:prstGeom prst="rect">
            <a:avLst/>
          </a:prstGeom>
          <a:noFill/>
          <a:ln/>
        </p:spPr>
        <p:txBody>
          <a:bodyPr wrap="square" lIns="0" tIns="1905"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helmet</a:t>
            </a:r>
            <a:endParaRPr lang="en-US" sz="1150" dirty="0"/>
          </a:p>
        </p:txBody>
      </p:sp>
      <p:sp>
        <p:nvSpPr>
          <p:cNvPr id="32" name="Text 30"/>
          <p:cNvSpPr/>
          <p:nvPr/>
        </p:nvSpPr>
        <p:spPr>
          <a:xfrm>
            <a:off x="3474720" y="42519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^8.0.0</a:t>
            </a:r>
            <a:endParaRPr lang="en-US" sz="1150" dirty="0"/>
          </a:p>
        </p:txBody>
      </p:sp>
      <p:sp>
        <p:nvSpPr>
          <p:cNvPr id="33" name="Text 31"/>
          <p:cNvSpPr/>
          <p:nvPr/>
        </p:nvSpPr>
        <p:spPr>
          <a:xfrm>
            <a:off x="5303520" y="42519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8.3.0</a:t>
            </a:r>
            <a:endParaRPr lang="en-US" sz="1150" dirty="0"/>
          </a:p>
        </p:txBody>
      </p:sp>
      <p:sp>
        <p:nvSpPr>
          <p:cNvPr id="34" name="Text 32"/>
          <p:cNvSpPr/>
          <p:nvPr/>
        </p:nvSpPr>
        <p:spPr>
          <a:xfrm>
            <a:off x="7132320" y="4251960"/>
            <a:ext cx="45720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HTTP security headers</a:t>
            </a:r>
            <a:endParaRPr lang="en-US" sz="1150" dirty="0"/>
          </a:p>
        </p:txBody>
      </p:sp>
      <p:sp>
        <p:nvSpPr>
          <p:cNvPr id="35" name="Text 33"/>
          <p:cNvSpPr/>
          <p:nvPr/>
        </p:nvSpPr>
        <p:spPr>
          <a:xfrm>
            <a:off x="548640" y="4709160"/>
            <a:ext cx="2926080" cy="457200"/>
          </a:xfrm>
          <a:prstGeom prst="rect">
            <a:avLst/>
          </a:prstGeom>
          <a:noFill/>
          <a:ln/>
        </p:spPr>
        <p:txBody>
          <a:bodyPr wrap="square" lIns="0" tIns="1905"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multer</a:t>
            </a:r>
            <a:endParaRPr lang="en-US" sz="1150" dirty="0"/>
          </a:p>
        </p:txBody>
      </p:sp>
      <p:sp>
        <p:nvSpPr>
          <p:cNvPr id="36" name="Text 34"/>
          <p:cNvSpPr/>
          <p:nvPr/>
        </p:nvSpPr>
        <p:spPr>
          <a:xfrm>
            <a:off x="3474720" y="47091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^1.4.5-lts.1</a:t>
            </a:r>
            <a:endParaRPr lang="en-US" sz="1150" dirty="0"/>
          </a:p>
        </p:txBody>
      </p:sp>
      <p:sp>
        <p:nvSpPr>
          <p:cNvPr id="37" name="Text 35"/>
          <p:cNvSpPr/>
          <p:nvPr/>
        </p:nvSpPr>
        <p:spPr>
          <a:xfrm>
            <a:off x="5303520" y="47091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1.4.5-lts.2</a:t>
            </a:r>
            <a:endParaRPr lang="en-US" sz="1150" dirty="0"/>
          </a:p>
        </p:txBody>
      </p:sp>
      <p:sp>
        <p:nvSpPr>
          <p:cNvPr id="38" name="Text 36"/>
          <p:cNvSpPr/>
          <p:nvPr/>
        </p:nvSpPr>
        <p:spPr>
          <a:xfrm>
            <a:off x="7132320" y="4709160"/>
            <a:ext cx="45720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Attachment upload handling</a:t>
            </a:r>
            <a:endParaRPr lang="en-US" sz="1150" dirty="0"/>
          </a:p>
        </p:txBody>
      </p:sp>
      <p:sp>
        <p:nvSpPr>
          <p:cNvPr id="39" name="Shape 37"/>
          <p:cNvSpPr/>
          <p:nvPr/>
        </p:nvSpPr>
        <p:spPr>
          <a:xfrm>
            <a:off x="548640" y="5166360"/>
            <a:ext cx="11155680" cy="457200"/>
          </a:xfrm>
          <a:prstGeom prst="rect">
            <a:avLst/>
          </a:prstGeom>
          <a:solidFill>
            <a:srgbClr val="18202F"/>
          </a:solidFill>
          <a:ln/>
        </p:spPr>
      </p:sp>
      <p:sp>
        <p:nvSpPr>
          <p:cNvPr id="40" name="Text 38"/>
          <p:cNvSpPr/>
          <p:nvPr/>
        </p:nvSpPr>
        <p:spPr>
          <a:xfrm>
            <a:off x="548640" y="5166360"/>
            <a:ext cx="2926080" cy="457200"/>
          </a:xfrm>
          <a:prstGeom prst="rect">
            <a:avLst/>
          </a:prstGeom>
          <a:noFill/>
          <a:ln/>
        </p:spPr>
        <p:txBody>
          <a:bodyPr wrap="square" lIns="0" tIns="1905"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nodemailer</a:t>
            </a:r>
            <a:endParaRPr lang="en-US" sz="1150" dirty="0"/>
          </a:p>
        </p:txBody>
      </p:sp>
      <p:sp>
        <p:nvSpPr>
          <p:cNvPr id="41" name="Text 39"/>
          <p:cNvSpPr/>
          <p:nvPr/>
        </p:nvSpPr>
        <p:spPr>
          <a:xfrm>
            <a:off x="3474720" y="51663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^6.10.0</a:t>
            </a:r>
            <a:endParaRPr lang="en-US" sz="1150" dirty="0"/>
          </a:p>
        </p:txBody>
      </p:sp>
      <p:sp>
        <p:nvSpPr>
          <p:cNvPr id="42" name="Text 40"/>
          <p:cNvSpPr/>
          <p:nvPr/>
        </p:nvSpPr>
        <p:spPr>
          <a:xfrm>
            <a:off x="5303520" y="5166360"/>
            <a:ext cx="18288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6.10.1</a:t>
            </a:r>
            <a:endParaRPr lang="en-US" sz="1150" dirty="0"/>
          </a:p>
        </p:txBody>
      </p:sp>
      <p:sp>
        <p:nvSpPr>
          <p:cNvPr id="43" name="Text 41"/>
          <p:cNvSpPr/>
          <p:nvPr/>
        </p:nvSpPr>
        <p:spPr>
          <a:xfrm>
            <a:off x="7132320" y="5166360"/>
            <a:ext cx="4572000" cy="457200"/>
          </a:xfrm>
          <a:prstGeom prst="rect">
            <a:avLst/>
          </a:prstGeom>
          <a:noFill/>
          <a:ln/>
        </p:spPr>
        <p:txBody>
          <a:bodyPr wrap="square" lIns="0" tIns="1905"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Mock / SMTP email transport</a:t>
            </a:r>
            <a:endParaRPr lang="en-US" sz="1150" dirty="0"/>
          </a:p>
        </p:txBody>
      </p:sp>
      <p:sp>
        <p:nvSpPr>
          <p:cNvPr id="44" name="Shape 42"/>
          <p:cNvSpPr/>
          <p:nvPr/>
        </p:nvSpPr>
        <p:spPr>
          <a:xfrm>
            <a:off x="548640" y="1947672"/>
            <a:ext cx="11155680" cy="0"/>
          </a:xfrm>
          <a:prstGeom prst="line">
            <a:avLst/>
          </a:prstGeom>
          <a:noFill/>
          <a:ln w="19050">
            <a:solidFill>
              <a:srgbClr val="2DD4BF"/>
            </a:solidFill>
            <a:prstDash val="solid"/>
          </a:ln>
        </p:spPr>
      </p:sp>
      <p:sp>
        <p:nvSpPr>
          <p:cNvPr id="45" name="Text 43"/>
          <p:cNvSpPr/>
          <p:nvPr/>
        </p:nvSpPr>
        <p:spPr>
          <a:xfrm>
            <a:off x="548640" y="5852160"/>
            <a:ext cx="10515600" cy="365760"/>
          </a:xfrm>
          <a:prstGeom prst="rect">
            <a:avLst/>
          </a:prstGeom>
          <a:noFill/>
          <a:ln/>
        </p:spPr>
        <p:txBody>
          <a:bodyPr wrap="square" lIns="0" tIns="0" rIns="0" bIns="0" rtlCol="0" anchor="ctr"/>
          <a:lstStyle/>
          <a:p>
            <a:pPr indent="0" marL="0">
              <a:buNone/>
            </a:pPr>
            <a:r>
              <a:rPr lang="en-US" sz="1150" i="1" dirty="0">
                <a:solidFill>
                  <a:srgbClr val="F0B429"/>
                </a:solidFill>
                <a:latin typeface="Calibri" pitchFamily="34" charset="0"/>
                <a:ea typeface="Calibri" pitchFamily="34" charset="-122"/>
                <a:cs typeface="Calibri" pitchFamily="34" charset="-120"/>
              </a:rPr>
              <a:t>Runtime verified with Node.js v22.16.0  •  server.js passed node --check with zero syntax errors</a:t>
            </a:r>
            <a:endParaRPr lang="en-US" sz="1150" dirty="0"/>
          </a:p>
        </p:txBody>
      </p:sp>
      <p:sp>
        <p:nvSpPr>
          <p:cNvPr id="46" name="Text 44"/>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47" name="Text 45"/>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Monolithic Express Application, Five Core Layers</a:t>
            </a:r>
            <a:endParaRPr lang="en-US" sz="3000" dirty="0"/>
          </a:p>
        </p:txBody>
      </p:sp>
      <p:sp>
        <p:nvSpPr>
          <p:cNvPr id="4" name="Shape 2"/>
          <p:cNvSpPr/>
          <p:nvPr/>
        </p:nvSpPr>
        <p:spPr>
          <a:xfrm>
            <a:off x="548640" y="1691640"/>
            <a:ext cx="1965960" cy="1371600"/>
          </a:xfrm>
          <a:prstGeom prst="roundRect">
            <a:avLst>
              <a:gd name="adj" fmla="val 5333"/>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640080" y="1892808"/>
            <a:ext cx="1783080" cy="54864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Browser</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Frontend</a:t>
            </a:r>
            <a:endParaRPr lang="en-US" sz="1300" dirty="0"/>
          </a:p>
        </p:txBody>
      </p:sp>
      <p:sp>
        <p:nvSpPr>
          <p:cNvPr id="6" name="Text 4"/>
          <p:cNvSpPr/>
          <p:nvPr/>
        </p:nvSpPr>
        <p:spPr>
          <a:xfrm>
            <a:off x="640080" y="2532888"/>
            <a:ext cx="1783080" cy="45720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HTML / CSS / JS</a:t>
            </a:r>
            <a:endParaRPr lang="en-US" sz="950" dirty="0"/>
          </a:p>
        </p:txBody>
      </p:sp>
      <p:sp>
        <p:nvSpPr>
          <p:cNvPr id="7" name="Text 5"/>
          <p:cNvSpPr/>
          <p:nvPr/>
        </p:nvSpPr>
        <p:spPr>
          <a:xfrm>
            <a:off x="2496312" y="2148840"/>
            <a:ext cx="320040" cy="457200"/>
          </a:xfrm>
          <a:prstGeom prst="rect">
            <a:avLst/>
          </a:prstGeom>
          <a:noFill/>
          <a:ln/>
        </p:spPr>
        <p:txBody>
          <a:bodyPr wrap="square" lIns="0" tIns="0" rIns="0" bIns="0" rtlCol="0" anchor="ctr"/>
          <a:lstStyle/>
          <a:p>
            <a:pPr algn="ctr" indent="0" marL="0">
              <a:buNone/>
            </a:pPr>
            <a:r>
              <a:rPr lang="en-US" sz="2000" dirty="0">
                <a:solidFill>
                  <a:srgbClr val="2DD4BF"/>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788920" y="1691640"/>
            <a:ext cx="1965960" cy="1371600"/>
          </a:xfrm>
          <a:prstGeom prst="roundRect">
            <a:avLst>
              <a:gd name="adj" fmla="val 5333"/>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2880360" y="1892808"/>
            <a:ext cx="1783080" cy="54864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Express</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Application</a:t>
            </a:r>
            <a:endParaRPr lang="en-US" sz="1300" dirty="0"/>
          </a:p>
        </p:txBody>
      </p:sp>
      <p:sp>
        <p:nvSpPr>
          <p:cNvPr id="10" name="Text 8"/>
          <p:cNvSpPr/>
          <p:nvPr/>
        </p:nvSpPr>
        <p:spPr>
          <a:xfrm>
            <a:off x="2880360" y="2532888"/>
            <a:ext cx="1783080" cy="45720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server.js routes</a:t>
            </a:r>
            <a:endParaRPr lang="en-US" sz="950" dirty="0"/>
          </a:p>
        </p:txBody>
      </p:sp>
      <p:sp>
        <p:nvSpPr>
          <p:cNvPr id="11" name="Text 9"/>
          <p:cNvSpPr/>
          <p:nvPr/>
        </p:nvSpPr>
        <p:spPr>
          <a:xfrm>
            <a:off x="4736592" y="2148840"/>
            <a:ext cx="320040" cy="457200"/>
          </a:xfrm>
          <a:prstGeom prst="rect">
            <a:avLst/>
          </a:prstGeom>
          <a:noFill/>
          <a:ln/>
        </p:spPr>
        <p:txBody>
          <a:bodyPr wrap="square" lIns="0" tIns="0" rIns="0" bIns="0" rtlCol="0" anchor="ctr"/>
          <a:lstStyle/>
          <a:p>
            <a:pPr algn="ctr" indent="0" marL="0">
              <a:buNone/>
            </a:pPr>
            <a:r>
              <a:rPr lang="en-US" sz="2000" dirty="0">
                <a:solidFill>
                  <a:srgbClr val="2DD4BF"/>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029200" y="1691640"/>
            <a:ext cx="1965960" cy="1371600"/>
          </a:xfrm>
          <a:prstGeom prst="roundRect">
            <a:avLst>
              <a:gd name="adj" fmla="val 5333"/>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3" name="Text 11"/>
          <p:cNvSpPr/>
          <p:nvPr/>
        </p:nvSpPr>
        <p:spPr>
          <a:xfrm>
            <a:off x="5120640" y="1892808"/>
            <a:ext cx="1783080" cy="54864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Security</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Middleware</a:t>
            </a:r>
            <a:endParaRPr lang="en-US" sz="1300" dirty="0"/>
          </a:p>
        </p:txBody>
      </p:sp>
      <p:sp>
        <p:nvSpPr>
          <p:cNvPr id="14" name="Text 12"/>
          <p:cNvSpPr/>
          <p:nvPr/>
        </p:nvSpPr>
        <p:spPr>
          <a:xfrm>
            <a:off x="5120640" y="2532888"/>
            <a:ext cx="1783080" cy="45720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Helmet · limits · sessions</a:t>
            </a:r>
            <a:endParaRPr lang="en-US" sz="950" dirty="0"/>
          </a:p>
        </p:txBody>
      </p:sp>
      <p:sp>
        <p:nvSpPr>
          <p:cNvPr id="15" name="Text 13"/>
          <p:cNvSpPr/>
          <p:nvPr/>
        </p:nvSpPr>
        <p:spPr>
          <a:xfrm>
            <a:off x="6976872" y="2148840"/>
            <a:ext cx="320040" cy="457200"/>
          </a:xfrm>
          <a:prstGeom prst="rect">
            <a:avLst/>
          </a:prstGeom>
          <a:noFill/>
          <a:ln/>
        </p:spPr>
        <p:txBody>
          <a:bodyPr wrap="square" lIns="0" tIns="0" rIns="0" bIns="0" rtlCol="0" anchor="ctr"/>
          <a:lstStyle/>
          <a:p>
            <a:pPr algn="ctr" indent="0" marL="0">
              <a:buNone/>
            </a:pPr>
            <a:r>
              <a:rPr lang="en-US" sz="2000" dirty="0">
                <a:solidFill>
                  <a:srgbClr val="2DD4BF"/>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269480" y="1691640"/>
            <a:ext cx="1965960" cy="1371600"/>
          </a:xfrm>
          <a:prstGeom prst="roundRect">
            <a:avLst>
              <a:gd name="adj" fmla="val 5333"/>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7" name="Text 15"/>
          <p:cNvSpPr/>
          <p:nvPr/>
        </p:nvSpPr>
        <p:spPr>
          <a:xfrm>
            <a:off x="7360920" y="1892808"/>
            <a:ext cx="1783080" cy="54864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Domain</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Services</a:t>
            </a:r>
            <a:endParaRPr lang="en-US" sz="1300" dirty="0"/>
          </a:p>
        </p:txBody>
      </p:sp>
      <p:sp>
        <p:nvSpPr>
          <p:cNvPr id="18" name="Text 16"/>
          <p:cNvSpPr/>
          <p:nvPr/>
        </p:nvSpPr>
        <p:spPr>
          <a:xfrm>
            <a:off x="7360920" y="2532888"/>
            <a:ext cx="1783080" cy="45720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Complaint · Admin · Vendor</a:t>
            </a:r>
            <a:endParaRPr lang="en-US" sz="950" dirty="0"/>
          </a:p>
        </p:txBody>
      </p:sp>
      <p:sp>
        <p:nvSpPr>
          <p:cNvPr id="19" name="Text 17"/>
          <p:cNvSpPr/>
          <p:nvPr/>
        </p:nvSpPr>
        <p:spPr>
          <a:xfrm>
            <a:off x="9217152" y="2148840"/>
            <a:ext cx="320040" cy="457200"/>
          </a:xfrm>
          <a:prstGeom prst="rect">
            <a:avLst/>
          </a:prstGeom>
          <a:noFill/>
          <a:ln/>
        </p:spPr>
        <p:txBody>
          <a:bodyPr wrap="square" lIns="0" tIns="0" rIns="0" bIns="0" rtlCol="0" anchor="ctr"/>
          <a:lstStyle/>
          <a:p>
            <a:pPr algn="ctr" indent="0" marL="0">
              <a:buNone/>
            </a:pPr>
            <a:r>
              <a:rPr lang="en-US" sz="2000" dirty="0">
                <a:solidFill>
                  <a:srgbClr val="2DD4BF"/>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509760" y="1691640"/>
            <a:ext cx="1965960" cy="1371600"/>
          </a:xfrm>
          <a:prstGeom prst="roundRect">
            <a:avLst>
              <a:gd name="adj" fmla="val 5333"/>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1" name="Text 19"/>
          <p:cNvSpPr/>
          <p:nvPr/>
        </p:nvSpPr>
        <p:spPr>
          <a:xfrm>
            <a:off x="9601200" y="1892808"/>
            <a:ext cx="1783080" cy="54864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Persistence &amp;</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Email</a:t>
            </a:r>
            <a:endParaRPr lang="en-US" sz="1300" dirty="0"/>
          </a:p>
        </p:txBody>
      </p:sp>
      <p:sp>
        <p:nvSpPr>
          <p:cNvPr id="22" name="Text 20"/>
          <p:cNvSpPr/>
          <p:nvPr/>
        </p:nvSpPr>
        <p:spPr>
          <a:xfrm>
            <a:off x="9601200" y="2532888"/>
            <a:ext cx="1783080" cy="45720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SQLite · uploads · SMTP</a:t>
            </a:r>
            <a:endParaRPr lang="en-US" sz="950" dirty="0"/>
          </a:p>
        </p:txBody>
      </p:sp>
      <p:sp>
        <p:nvSpPr>
          <p:cNvPr id="23" name="Text 21"/>
          <p:cNvSpPr/>
          <p:nvPr/>
        </p:nvSpPr>
        <p:spPr>
          <a:xfrm>
            <a:off x="548640" y="3337560"/>
            <a:ext cx="10881360" cy="457200"/>
          </a:xfrm>
          <a:prstGeom prst="rect">
            <a:avLst/>
          </a:prstGeom>
          <a:noFill/>
          <a:ln/>
        </p:spPr>
        <p:txBody>
          <a:bodyPr wrap="square" lIns="0" tIns="0" rIns="0" bIns="0" rtlCol="0" anchor="ctr"/>
          <a:lstStyle/>
          <a:p>
            <a:pPr indent="0" marL="0">
              <a:buNone/>
            </a:pPr>
            <a:r>
              <a:rPr lang="en-US" sz="1150" i="1" dirty="0">
                <a:solidFill>
                  <a:srgbClr val="94A3B8"/>
                </a:solidFill>
                <a:latin typeface="Calibri" pitchFamily="34" charset="0"/>
                <a:ea typeface="Calibri" pitchFamily="34" charset="-122"/>
                <a:cs typeface="Calibri" pitchFamily="34" charset="-120"/>
              </a:rPr>
              <a:t>The frontend layer is documented (README) but was not included in the submitted upload; all other layers are verified against server.js.</a:t>
            </a:r>
            <a:endParaRPr lang="en-US" sz="1150" dirty="0"/>
          </a:p>
        </p:txBody>
      </p:sp>
      <p:sp>
        <p:nvSpPr>
          <p:cNvPr id="24" name="Text 22"/>
          <p:cNvSpPr/>
          <p:nvPr/>
        </p:nvSpPr>
        <p:spPr>
          <a:xfrm>
            <a:off x="548640" y="3977640"/>
            <a:ext cx="2377440" cy="438912"/>
          </a:xfrm>
          <a:prstGeom prst="rect">
            <a:avLst/>
          </a:prstGeom>
          <a:noFill/>
          <a:ln/>
        </p:spPr>
        <p:txBody>
          <a:bodyPr wrap="square" lIns="0" tIns="1524" rIns="0" bIns="0"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Component</a:t>
            </a:r>
            <a:endParaRPr lang="en-US" sz="1150" dirty="0"/>
          </a:p>
        </p:txBody>
      </p:sp>
      <p:sp>
        <p:nvSpPr>
          <p:cNvPr id="25" name="Text 23"/>
          <p:cNvSpPr/>
          <p:nvPr/>
        </p:nvSpPr>
        <p:spPr>
          <a:xfrm>
            <a:off x="2926080" y="3977640"/>
            <a:ext cx="4937760" cy="438912"/>
          </a:xfrm>
          <a:prstGeom prst="rect">
            <a:avLst/>
          </a:prstGeom>
          <a:noFill/>
          <a:ln/>
        </p:spPr>
        <p:txBody>
          <a:bodyPr wrap="square" lIns="0" tIns="1524" rIns="0" bIns="0"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Responsibility</a:t>
            </a:r>
            <a:endParaRPr lang="en-US" sz="1150" dirty="0"/>
          </a:p>
        </p:txBody>
      </p:sp>
      <p:sp>
        <p:nvSpPr>
          <p:cNvPr id="26" name="Text 24"/>
          <p:cNvSpPr/>
          <p:nvPr/>
        </p:nvSpPr>
        <p:spPr>
          <a:xfrm>
            <a:off x="7863840" y="3977640"/>
            <a:ext cx="3566160" cy="438912"/>
          </a:xfrm>
          <a:prstGeom prst="rect">
            <a:avLst/>
          </a:prstGeom>
          <a:noFill/>
          <a:ln/>
        </p:spPr>
        <p:txBody>
          <a:bodyPr wrap="square" lIns="0" tIns="1524" rIns="0" bIns="0"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Evidence</a:t>
            </a:r>
            <a:endParaRPr lang="en-US" sz="1150" dirty="0"/>
          </a:p>
        </p:txBody>
      </p:sp>
      <p:sp>
        <p:nvSpPr>
          <p:cNvPr id="27" name="Text 25"/>
          <p:cNvSpPr/>
          <p:nvPr/>
        </p:nvSpPr>
        <p:spPr>
          <a:xfrm>
            <a:off x="548640" y="4416552"/>
            <a:ext cx="2377440" cy="438912"/>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SQLite</a:t>
            </a:r>
            <a:endParaRPr lang="en-US" sz="1050" dirty="0"/>
          </a:p>
        </p:txBody>
      </p:sp>
      <p:sp>
        <p:nvSpPr>
          <p:cNvPr id="28" name="Text 26"/>
          <p:cNvSpPr/>
          <p:nvPr/>
        </p:nvSpPr>
        <p:spPr>
          <a:xfrm>
            <a:off x="2926080" y="4416552"/>
            <a:ext cx="4937760" cy="438912"/>
          </a:xfrm>
          <a:prstGeom prst="rect">
            <a:avLst/>
          </a:prstGeom>
          <a:noFill/>
          <a:ln/>
        </p:spPr>
        <p:txBody>
          <a:bodyPr wrap="square" lIns="0" tIns="1524"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Accounts, OTPs, resets, complaints, comments</a:t>
            </a:r>
            <a:endParaRPr lang="en-US" sz="1050" dirty="0"/>
          </a:p>
        </p:txBody>
      </p:sp>
      <p:sp>
        <p:nvSpPr>
          <p:cNvPr id="29" name="Text 27"/>
          <p:cNvSpPr/>
          <p:nvPr/>
        </p:nvSpPr>
        <p:spPr>
          <a:xfrm>
            <a:off x="7863840" y="4416552"/>
            <a:ext cx="3566160" cy="438912"/>
          </a:xfrm>
          <a:prstGeom prst="rect">
            <a:avLst/>
          </a:prstGeom>
          <a:noFill/>
          <a:ln/>
        </p:spPr>
        <p:txBody>
          <a:bodyPr wrap="square" lIns="0" tIns="1524"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initializeDatabase()</a:t>
            </a:r>
            <a:endParaRPr lang="en-US" sz="1050" dirty="0"/>
          </a:p>
        </p:txBody>
      </p:sp>
      <p:sp>
        <p:nvSpPr>
          <p:cNvPr id="30" name="Shape 28"/>
          <p:cNvSpPr/>
          <p:nvPr/>
        </p:nvSpPr>
        <p:spPr>
          <a:xfrm>
            <a:off x="548640" y="4855464"/>
            <a:ext cx="10881360" cy="438912"/>
          </a:xfrm>
          <a:prstGeom prst="rect">
            <a:avLst/>
          </a:prstGeom>
          <a:solidFill>
            <a:srgbClr val="18202F"/>
          </a:solidFill>
          <a:ln/>
        </p:spPr>
      </p:sp>
      <p:sp>
        <p:nvSpPr>
          <p:cNvPr id="31" name="Text 29"/>
          <p:cNvSpPr/>
          <p:nvPr/>
        </p:nvSpPr>
        <p:spPr>
          <a:xfrm>
            <a:off x="548640" y="4855464"/>
            <a:ext cx="2377440" cy="438912"/>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Upload directory</a:t>
            </a:r>
            <a:endParaRPr lang="en-US" sz="1050" dirty="0"/>
          </a:p>
        </p:txBody>
      </p:sp>
      <p:sp>
        <p:nvSpPr>
          <p:cNvPr id="32" name="Text 30"/>
          <p:cNvSpPr/>
          <p:nvPr/>
        </p:nvSpPr>
        <p:spPr>
          <a:xfrm>
            <a:off x="2926080" y="4855464"/>
            <a:ext cx="4937760" cy="438912"/>
          </a:xfrm>
          <a:prstGeom prst="rect">
            <a:avLst/>
          </a:prstGeom>
          <a:noFill/>
          <a:ln/>
        </p:spPr>
        <p:txBody>
          <a:bodyPr wrap="square" lIns="0" tIns="1524"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Complaint attachments</a:t>
            </a:r>
            <a:endParaRPr lang="en-US" sz="1050" dirty="0"/>
          </a:p>
        </p:txBody>
      </p:sp>
      <p:sp>
        <p:nvSpPr>
          <p:cNvPr id="33" name="Text 31"/>
          <p:cNvSpPr/>
          <p:nvPr/>
        </p:nvSpPr>
        <p:spPr>
          <a:xfrm>
            <a:off x="7863840" y="4855464"/>
            <a:ext cx="3566160" cy="438912"/>
          </a:xfrm>
          <a:prstGeom prst="rect">
            <a:avLst/>
          </a:prstGeom>
          <a:noFill/>
          <a:ln/>
        </p:spPr>
        <p:txBody>
          <a:bodyPr wrap="square" lIns="0" tIns="1524"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Multer diskStorage + /uploads route</a:t>
            </a:r>
            <a:endParaRPr lang="en-US" sz="1050" dirty="0"/>
          </a:p>
        </p:txBody>
      </p:sp>
      <p:sp>
        <p:nvSpPr>
          <p:cNvPr id="34" name="Text 32"/>
          <p:cNvSpPr/>
          <p:nvPr/>
        </p:nvSpPr>
        <p:spPr>
          <a:xfrm>
            <a:off x="548640" y="5294376"/>
            <a:ext cx="2377440" cy="438912"/>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Email service</a:t>
            </a:r>
            <a:endParaRPr lang="en-US" sz="1050" dirty="0"/>
          </a:p>
        </p:txBody>
      </p:sp>
      <p:sp>
        <p:nvSpPr>
          <p:cNvPr id="35" name="Text 33"/>
          <p:cNvSpPr/>
          <p:nvPr/>
        </p:nvSpPr>
        <p:spPr>
          <a:xfrm>
            <a:off x="2926080" y="5294376"/>
            <a:ext cx="4937760" cy="438912"/>
          </a:xfrm>
          <a:prstGeom prst="rect">
            <a:avLst/>
          </a:prstGeom>
          <a:noFill/>
          <a:ln/>
        </p:spPr>
        <p:txBody>
          <a:bodyPr wrap="square" lIns="0" tIns="1524"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OTP, reset &amp; status messages</a:t>
            </a:r>
            <a:endParaRPr lang="en-US" sz="1050" dirty="0"/>
          </a:p>
        </p:txBody>
      </p:sp>
      <p:sp>
        <p:nvSpPr>
          <p:cNvPr id="36" name="Text 34"/>
          <p:cNvSpPr/>
          <p:nvPr/>
        </p:nvSpPr>
        <p:spPr>
          <a:xfrm>
            <a:off x="7863840" y="5294376"/>
            <a:ext cx="3566160" cy="438912"/>
          </a:xfrm>
          <a:prstGeom prst="rect">
            <a:avLst/>
          </a:prstGeom>
          <a:noFill/>
          <a:ln/>
        </p:spPr>
        <p:txBody>
          <a:bodyPr wrap="square" lIns="0" tIns="1524"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Nodemailer / mock sendMail</a:t>
            </a:r>
            <a:endParaRPr lang="en-US" sz="1050" dirty="0"/>
          </a:p>
        </p:txBody>
      </p:sp>
      <p:sp>
        <p:nvSpPr>
          <p:cNvPr id="37" name="Shape 35"/>
          <p:cNvSpPr/>
          <p:nvPr/>
        </p:nvSpPr>
        <p:spPr>
          <a:xfrm>
            <a:off x="548640" y="5733288"/>
            <a:ext cx="10881360" cy="438912"/>
          </a:xfrm>
          <a:prstGeom prst="rect">
            <a:avLst/>
          </a:prstGeom>
          <a:solidFill>
            <a:srgbClr val="18202F"/>
          </a:solidFill>
          <a:ln/>
        </p:spPr>
      </p:sp>
      <p:sp>
        <p:nvSpPr>
          <p:cNvPr id="38" name="Text 36"/>
          <p:cNvSpPr/>
          <p:nvPr/>
        </p:nvSpPr>
        <p:spPr>
          <a:xfrm>
            <a:off x="548640" y="5733288"/>
            <a:ext cx="2377440" cy="438912"/>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Security middleware</a:t>
            </a:r>
            <a:endParaRPr lang="en-US" sz="1050" dirty="0"/>
          </a:p>
        </p:txBody>
      </p:sp>
      <p:sp>
        <p:nvSpPr>
          <p:cNvPr id="39" name="Text 37"/>
          <p:cNvSpPr/>
          <p:nvPr/>
        </p:nvSpPr>
        <p:spPr>
          <a:xfrm>
            <a:off x="2926080" y="5733288"/>
            <a:ext cx="4937760" cy="438912"/>
          </a:xfrm>
          <a:prstGeom prst="rect">
            <a:avLst/>
          </a:prstGeom>
          <a:noFill/>
          <a:ln/>
        </p:spPr>
        <p:txBody>
          <a:bodyPr wrap="square" lIns="0" tIns="1524"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Headers, rate limits, sessions, role guards</a:t>
            </a:r>
            <a:endParaRPr lang="en-US" sz="1050" dirty="0"/>
          </a:p>
        </p:txBody>
      </p:sp>
      <p:sp>
        <p:nvSpPr>
          <p:cNvPr id="40" name="Text 38"/>
          <p:cNvSpPr/>
          <p:nvPr/>
        </p:nvSpPr>
        <p:spPr>
          <a:xfrm>
            <a:off x="7863840" y="5733288"/>
            <a:ext cx="3566160" cy="438912"/>
          </a:xfrm>
          <a:prstGeom prst="rect">
            <a:avLst/>
          </a:prstGeom>
          <a:noFill/>
          <a:ln/>
        </p:spPr>
        <p:txBody>
          <a:bodyPr wrap="square" lIns="0" tIns="1524"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Helmet, express-rate-limit, express-session</a:t>
            </a:r>
            <a:endParaRPr lang="en-US" sz="1050" dirty="0"/>
          </a:p>
        </p:txBody>
      </p:sp>
      <p:sp>
        <p:nvSpPr>
          <p:cNvPr id="41" name="Shape 39"/>
          <p:cNvSpPr/>
          <p:nvPr/>
        </p:nvSpPr>
        <p:spPr>
          <a:xfrm>
            <a:off x="548640" y="4398264"/>
            <a:ext cx="10881360" cy="0"/>
          </a:xfrm>
          <a:prstGeom prst="line">
            <a:avLst/>
          </a:prstGeom>
          <a:noFill/>
          <a:ln w="19050">
            <a:solidFill>
              <a:srgbClr val="2DD4BF"/>
            </a:solidFill>
            <a:prstDash val="solid"/>
          </a:ln>
        </p:spPr>
      </p:sp>
      <p:sp>
        <p:nvSpPr>
          <p:cNvPr id="42" name="Text 40"/>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43" name="Text 41"/>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COMPLAINT LIFECYCLE</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Five-State Model with Category-Safe Vendor Routing</a:t>
            </a:r>
            <a:endParaRPr lang="en-US" sz="3000" dirty="0"/>
          </a:p>
        </p:txBody>
      </p:sp>
      <p:sp>
        <p:nvSpPr>
          <p:cNvPr id="4" name="Shape 2"/>
          <p:cNvSpPr/>
          <p:nvPr/>
        </p:nvSpPr>
        <p:spPr>
          <a:xfrm>
            <a:off x="548640" y="1737360"/>
            <a:ext cx="1920240" cy="777240"/>
          </a:xfrm>
          <a:prstGeom prst="roundRect">
            <a:avLst>
              <a:gd name="adj" fmla="val 49412"/>
            </a:avLst>
          </a:prstGeom>
          <a:solidFill>
            <a:srgbClr val="151C29"/>
          </a:solidFill>
          <a:ln w="19050">
            <a:solidFill>
              <a:srgbClr val="94A3B8"/>
            </a:solidFill>
            <a:prstDash val="solid"/>
          </a:ln>
        </p:spPr>
      </p:sp>
      <p:sp>
        <p:nvSpPr>
          <p:cNvPr id="5" name="Text 3"/>
          <p:cNvSpPr/>
          <p:nvPr/>
        </p:nvSpPr>
        <p:spPr>
          <a:xfrm>
            <a:off x="548640" y="1737360"/>
            <a:ext cx="1920240" cy="777240"/>
          </a:xfrm>
          <a:prstGeom prst="rect">
            <a:avLst/>
          </a:prstGeom>
          <a:noFill/>
          <a:ln/>
        </p:spPr>
        <p:txBody>
          <a:bodyPr wrap="square" lIns="0" tIns="0" rIns="0" bIns="0" rtlCol="0" anchor="ctr"/>
          <a:lstStyle/>
          <a:p>
            <a:pPr algn="ctr" indent="0" marL="0">
              <a:buNone/>
            </a:pPr>
            <a:r>
              <a:rPr lang="en-US" sz="1250" b="1" dirty="0">
                <a:solidFill>
                  <a:srgbClr val="F5F7FA"/>
                </a:solidFill>
                <a:latin typeface="Calibri" pitchFamily="34" charset="0"/>
                <a:ea typeface="Calibri" pitchFamily="34" charset="-122"/>
                <a:cs typeface="Calibri" pitchFamily="34" charset="-120"/>
              </a:rPr>
              <a:t>Open</a:t>
            </a:r>
            <a:endParaRPr lang="en-US" sz="1250" dirty="0"/>
          </a:p>
        </p:txBody>
      </p:sp>
      <p:sp>
        <p:nvSpPr>
          <p:cNvPr id="6" name="Text 4"/>
          <p:cNvSpPr/>
          <p:nvPr/>
        </p:nvSpPr>
        <p:spPr>
          <a:xfrm>
            <a:off x="2478024" y="1901952"/>
            <a:ext cx="237744" cy="457200"/>
          </a:xfrm>
          <a:prstGeom prst="rect">
            <a:avLst/>
          </a:prstGeom>
          <a:noFill/>
          <a:ln/>
        </p:spPr>
        <p:txBody>
          <a:bodyPr wrap="square" lIns="0" tIns="0" rIns="0" bIns="0" rtlCol="0" anchor="ctr"/>
          <a:lstStyle/>
          <a:p>
            <a:pPr algn="ctr" indent="0" marL="0">
              <a:buNone/>
            </a:pPr>
            <a:r>
              <a:rPr lang="en-US" sz="1800" dirty="0">
                <a:solidFill>
                  <a:srgbClr val="2DD4BF"/>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2724912" y="1737360"/>
            <a:ext cx="1920240" cy="777240"/>
          </a:xfrm>
          <a:prstGeom prst="roundRect">
            <a:avLst>
              <a:gd name="adj" fmla="val 49412"/>
            </a:avLst>
          </a:prstGeom>
          <a:solidFill>
            <a:srgbClr val="151C29"/>
          </a:solidFill>
          <a:ln w="19050">
            <a:solidFill>
              <a:srgbClr val="2DD4BF"/>
            </a:solidFill>
            <a:prstDash val="solid"/>
          </a:ln>
        </p:spPr>
      </p:sp>
      <p:sp>
        <p:nvSpPr>
          <p:cNvPr id="8" name="Text 6"/>
          <p:cNvSpPr/>
          <p:nvPr/>
        </p:nvSpPr>
        <p:spPr>
          <a:xfrm>
            <a:off x="2724912" y="1737360"/>
            <a:ext cx="1920240" cy="777240"/>
          </a:xfrm>
          <a:prstGeom prst="rect">
            <a:avLst/>
          </a:prstGeom>
          <a:noFill/>
          <a:ln/>
        </p:spPr>
        <p:txBody>
          <a:bodyPr wrap="square" lIns="0" tIns="0" rIns="0" bIns="0" rtlCol="0" anchor="ctr"/>
          <a:lstStyle/>
          <a:p>
            <a:pPr algn="ctr" indent="0" marL="0">
              <a:buNone/>
            </a:pPr>
            <a:r>
              <a:rPr lang="en-US" sz="1250" b="1" dirty="0">
                <a:solidFill>
                  <a:srgbClr val="F5F7FA"/>
                </a:solidFill>
                <a:latin typeface="Calibri" pitchFamily="34" charset="0"/>
                <a:ea typeface="Calibri" pitchFamily="34" charset="-122"/>
                <a:cs typeface="Calibri" pitchFamily="34" charset="-120"/>
              </a:rPr>
              <a:t>Assigned</a:t>
            </a:r>
            <a:endParaRPr lang="en-US" sz="1250" dirty="0"/>
          </a:p>
        </p:txBody>
      </p:sp>
      <p:sp>
        <p:nvSpPr>
          <p:cNvPr id="9" name="Text 7"/>
          <p:cNvSpPr/>
          <p:nvPr/>
        </p:nvSpPr>
        <p:spPr>
          <a:xfrm>
            <a:off x="4654296" y="1901952"/>
            <a:ext cx="237744" cy="457200"/>
          </a:xfrm>
          <a:prstGeom prst="rect">
            <a:avLst/>
          </a:prstGeom>
          <a:noFill/>
          <a:ln/>
        </p:spPr>
        <p:txBody>
          <a:bodyPr wrap="square" lIns="0" tIns="0" rIns="0" bIns="0" rtlCol="0" anchor="ctr"/>
          <a:lstStyle/>
          <a:p>
            <a:pPr algn="ctr" indent="0" marL="0">
              <a:buNone/>
            </a:pPr>
            <a:r>
              <a:rPr lang="en-US" sz="1800" dirty="0">
                <a:solidFill>
                  <a:srgbClr val="2DD4BF"/>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4901184" y="1737360"/>
            <a:ext cx="1920240" cy="777240"/>
          </a:xfrm>
          <a:prstGeom prst="roundRect">
            <a:avLst>
              <a:gd name="adj" fmla="val 49412"/>
            </a:avLst>
          </a:prstGeom>
          <a:solidFill>
            <a:srgbClr val="151C29"/>
          </a:solidFill>
          <a:ln w="19050">
            <a:solidFill>
              <a:srgbClr val="2DD4BF"/>
            </a:solidFill>
            <a:prstDash val="solid"/>
          </a:ln>
        </p:spPr>
      </p:sp>
      <p:sp>
        <p:nvSpPr>
          <p:cNvPr id="11" name="Text 9"/>
          <p:cNvSpPr/>
          <p:nvPr/>
        </p:nvSpPr>
        <p:spPr>
          <a:xfrm>
            <a:off x="4901184" y="1737360"/>
            <a:ext cx="1920240" cy="777240"/>
          </a:xfrm>
          <a:prstGeom prst="rect">
            <a:avLst/>
          </a:prstGeom>
          <a:noFill/>
          <a:ln/>
        </p:spPr>
        <p:txBody>
          <a:bodyPr wrap="square" lIns="0" tIns="0" rIns="0" bIns="0" rtlCol="0" anchor="ctr"/>
          <a:lstStyle/>
          <a:p>
            <a:pPr algn="ctr" indent="0" marL="0">
              <a:buNone/>
            </a:pPr>
            <a:r>
              <a:rPr lang="en-US" sz="1250" b="1" dirty="0">
                <a:solidFill>
                  <a:srgbClr val="F5F7FA"/>
                </a:solidFill>
                <a:latin typeface="Calibri" pitchFamily="34" charset="0"/>
                <a:ea typeface="Calibri" pitchFamily="34" charset="-122"/>
                <a:cs typeface="Calibri" pitchFamily="34" charset="-120"/>
              </a:rPr>
              <a:t>Vendor Resolved</a:t>
            </a:r>
            <a:endParaRPr lang="en-US" sz="1250" dirty="0"/>
          </a:p>
        </p:txBody>
      </p:sp>
      <p:sp>
        <p:nvSpPr>
          <p:cNvPr id="12" name="Text 10"/>
          <p:cNvSpPr/>
          <p:nvPr/>
        </p:nvSpPr>
        <p:spPr>
          <a:xfrm>
            <a:off x="6830568" y="1901952"/>
            <a:ext cx="237744" cy="457200"/>
          </a:xfrm>
          <a:prstGeom prst="rect">
            <a:avLst/>
          </a:prstGeom>
          <a:noFill/>
          <a:ln/>
        </p:spPr>
        <p:txBody>
          <a:bodyPr wrap="square" lIns="0" tIns="0" rIns="0" bIns="0" rtlCol="0" anchor="ctr"/>
          <a:lstStyle/>
          <a:p>
            <a:pPr algn="ctr" indent="0" marL="0">
              <a:buNone/>
            </a:pPr>
            <a:r>
              <a:rPr lang="en-US" sz="1800" dirty="0">
                <a:solidFill>
                  <a:srgbClr val="2DD4BF"/>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7077456" y="1737360"/>
            <a:ext cx="1920240" cy="777240"/>
          </a:xfrm>
          <a:prstGeom prst="roundRect">
            <a:avLst>
              <a:gd name="adj" fmla="val 49412"/>
            </a:avLst>
          </a:prstGeom>
          <a:solidFill>
            <a:srgbClr val="151C29"/>
          </a:solidFill>
          <a:ln w="19050">
            <a:solidFill>
              <a:srgbClr val="F0B429"/>
            </a:solidFill>
            <a:prstDash val="solid"/>
          </a:ln>
        </p:spPr>
      </p:sp>
      <p:sp>
        <p:nvSpPr>
          <p:cNvPr id="14" name="Text 12"/>
          <p:cNvSpPr/>
          <p:nvPr/>
        </p:nvSpPr>
        <p:spPr>
          <a:xfrm>
            <a:off x="7077456" y="1737360"/>
            <a:ext cx="1920240" cy="777240"/>
          </a:xfrm>
          <a:prstGeom prst="rect">
            <a:avLst/>
          </a:prstGeom>
          <a:noFill/>
          <a:ln/>
        </p:spPr>
        <p:txBody>
          <a:bodyPr wrap="square" lIns="0" tIns="0" rIns="0" bIns="0" rtlCol="0" anchor="ctr"/>
          <a:lstStyle/>
          <a:p>
            <a:pPr algn="ctr" indent="0" marL="0">
              <a:buNone/>
            </a:pPr>
            <a:r>
              <a:rPr lang="en-US" sz="1250" b="1" dirty="0">
                <a:solidFill>
                  <a:srgbClr val="F5F7FA"/>
                </a:solidFill>
                <a:latin typeface="Calibri" pitchFamily="34" charset="0"/>
                <a:ea typeface="Calibri" pitchFamily="34" charset="-122"/>
                <a:cs typeface="Calibri" pitchFamily="34" charset="-120"/>
              </a:rPr>
              <a:t>Disputed</a:t>
            </a:r>
            <a:endParaRPr lang="en-US" sz="1250" dirty="0"/>
          </a:p>
        </p:txBody>
      </p:sp>
      <p:sp>
        <p:nvSpPr>
          <p:cNvPr id="15" name="Text 13"/>
          <p:cNvSpPr/>
          <p:nvPr/>
        </p:nvSpPr>
        <p:spPr>
          <a:xfrm>
            <a:off x="9006840" y="1901952"/>
            <a:ext cx="237744" cy="457200"/>
          </a:xfrm>
          <a:prstGeom prst="rect">
            <a:avLst/>
          </a:prstGeom>
          <a:noFill/>
          <a:ln/>
        </p:spPr>
        <p:txBody>
          <a:bodyPr wrap="square" lIns="0" tIns="0" rIns="0" bIns="0" rtlCol="0" anchor="ctr"/>
          <a:lstStyle/>
          <a:p>
            <a:pPr algn="ctr" indent="0" marL="0">
              <a:buNone/>
            </a:pPr>
            <a:r>
              <a:rPr lang="en-US" sz="1800" dirty="0">
                <a:solidFill>
                  <a:srgbClr val="2DD4BF"/>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9253728" y="1737360"/>
            <a:ext cx="1920240" cy="777240"/>
          </a:xfrm>
          <a:prstGeom prst="roundRect">
            <a:avLst>
              <a:gd name="adj" fmla="val 49412"/>
            </a:avLst>
          </a:prstGeom>
          <a:solidFill>
            <a:srgbClr val="123328"/>
          </a:solidFill>
          <a:ln w="19050">
            <a:solidFill>
              <a:srgbClr val="34D399"/>
            </a:solidFill>
            <a:prstDash val="solid"/>
          </a:ln>
        </p:spPr>
      </p:sp>
      <p:sp>
        <p:nvSpPr>
          <p:cNvPr id="17" name="Text 15"/>
          <p:cNvSpPr/>
          <p:nvPr/>
        </p:nvSpPr>
        <p:spPr>
          <a:xfrm>
            <a:off x="9253728" y="1737360"/>
            <a:ext cx="1920240" cy="777240"/>
          </a:xfrm>
          <a:prstGeom prst="rect">
            <a:avLst/>
          </a:prstGeom>
          <a:noFill/>
          <a:ln/>
        </p:spPr>
        <p:txBody>
          <a:bodyPr wrap="square" lIns="0" tIns="0" rIns="0" bIns="0" rtlCol="0" anchor="ctr"/>
          <a:lstStyle/>
          <a:p>
            <a:pPr algn="ctr" indent="0" marL="0">
              <a:buNone/>
            </a:pPr>
            <a:r>
              <a:rPr lang="en-US" sz="1250" b="1" dirty="0">
                <a:solidFill>
                  <a:srgbClr val="F5F7FA"/>
                </a:solidFill>
                <a:latin typeface="Calibri" pitchFamily="34" charset="0"/>
                <a:ea typeface="Calibri" pitchFamily="34" charset="-122"/>
                <a:cs typeface="Calibri" pitchFamily="34" charset="-120"/>
              </a:rPr>
              <a:t>Solved</a:t>
            </a:r>
            <a:endParaRPr lang="en-US" sz="1250" dirty="0"/>
          </a:p>
        </p:txBody>
      </p:sp>
      <p:sp>
        <p:nvSpPr>
          <p:cNvPr id="18" name="Shape 16"/>
          <p:cNvSpPr/>
          <p:nvPr/>
        </p:nvSpPr>
        <p:spPr>
          <a:xfrm>
            <a:off x="548640" y="2880360"/>
            <a:ext cx="5120640" cy="3200400"/>
          </a:xfrm>
          <a:prstGeom prst="roundRect">
            <a:avLst>
              <a:gd name="adj" fmla="val 2286"/>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9" name="Text 17"/>
          <p:cNvSpPr/>
          <p:nvPr/>
        </p:nvSpPr>
        <p:spPr>
          <a:xfrm>
            <a:off x="822960" y="3063240"/>
            <a:ext cx="4572000" cy="365760"/>
          </a:xfrm>
          <a:prstGeom prst="rect">
            <a:avLst/>
          </a:prstGeom>
          <a:noFill/>
          <a:ln/>
        </p:spPr>
        <p:txBody>
          <a:bodyPr wrap="square" lIns="0" tIns="0" rIns="0" bIns="0" rtlCol="0" anchor="ctr"/>
          <a:lstStyle/>
          <a:p>
            <a:pPr indent="0" marL="0">
              <a:buNone/>
            </a:pPr>
            <a:r>
              <a:rPr lang="en-US" sz="1500" b="1" dirty="0">
                <a:solidFill>
                  <a:srgbClr val="F0B429"/>
                </a:solidFill>
                <a:latin typeface="Calibri" pitchFamily="34" charset="0"/>
                <a:ea typeface="Calibri" pitchFamily="34" charset="-122"/>
                <a:cs typeface="Calibri" pitchFamily="34" charset="-120"/>
              </a:rPr>
              <a:t>Direct Complaints</a:t>
            </a:r>
            <a:endParaRPr lang="en-US" sz="1500" dirty="0"/>
          </a:p>
        </p:txBody>
      </p:sp>
      <p:sp>
        <p:nvSpPr>
          <p:cNvPr id="20" name="Text 18"/>
          <p:cNvSpPr/>
          <p:nvPr/>
        </p:nvSpPr>
        <p:spPr>
          <a:xfrm>
            <a:off x="822960" y="3429000"/>
            <a:ext cx="457200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HR · Payment · General</a:t>
            </a:r>
            <a:endParaRPr lang="en-US" sz="1100" dirty="0"/>
          </a:p>
        </p:txBody>
      </p:sp>
      <p:sp>
        <p:nvSpPr>
          <p:cNvPr id="21" name="Shape 19"/>
          <p:cNvSpPr/>
          <p:nvPr/>
        </p:nvSpPr>
        <p:spPr>
          <a:xfrm>
            <a:off x="822960" y="3895344"/>
            <a:ext cx="82296" cy="82296"/>
          </a:xfrm>
          <a:prstGeom prst="ellipse">
            <a:avLst/>
          </a:prstGeom>
          <a:solidFill>
            <a:srgbClr val="F0B429"/>
          </a:solidFill>
          <a:ln/>
        </p:spPr>
      </p:sp>
      <p:sp>
        <p:nvSpPr>
          <p:cNvPr id="22" name="Text 20"/>
          <p:cNvSpPr/>
          <p:nvPr/>
        </p:nvSpPr>
        <p:spPr>
          <a:xfrm>
            <a:off x="1051560" y="3767328"/>
            <a:ext cx="448056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Consumer creates a Direct complaint under an admin-validated category.</a:t>
            </a:r>
            <a:endParaRPr lang="en-US" sz="1150" dirty="0"/>
          </a:p>
        </p:txBody>
      </p:sp>
      <p:sp>
        <p:nvSpPr>
          <p:cNvPr id="23" name="Shape 21"/>
          <p:cNvSpPr/>
          <p:nvPr/>
        </p:nvSpPr>
        <p:spPr>
          <a:xfrm>
            <a:off x="822960" y="4489704"/>
            <a:ext cx="82296" cy="82296"/>
          </a:xfrm>
          <a:prstGeom prst="ellipse">
            <a:avLst/>
          </a:prstGeom>
          <a:solidFill>
            <a:srgbClr val="F0B429"/>
          </a:solidFill>
          <a:ln/>
        </p:spPr>
      </p:sp>
      <p:sp>
        <p:nvSpPr>
          <p:cNvPr id="24" name="Text 22"/>
          <p:cNvSpPr/>
          <p:nvPr/>
        </p:nvSpPr>
        <p:spPr>
          <a:xfrm>
            <a:off x="1051560" y="4361688"/>
            <a:ext cx="448056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Administrator retains full control end-to-end.</a:t>
            </a:r>
            <a:endParaRPr lang="en-US" sz="1150" dirty="0"/>
          </a:p>
        </p:txBody>
      </p:sp>
      <p:sp>
        <p:nvSpPr>
          <p:cNvPr id="25" name="Shape 23"/>
          <p:cNvSpPr/>
          <p:nvPr/>
        </p:nvSpPr>
        <p:spPr>
          <a:xfrm>
            <a:off x="822960" y="5084064"/>
            <a:ext cx="82296" cy="82296"/>
          </a:xfrm>
          <a:prstGeom prst="ellipse">
            <a:avLst/>
          </a:prstGeom>
          <a:solidFill>
            <a:srgbClr val="F0B429"/>
          </a:solidFill>
          <a:ln/>
        </p:spPr>
      </p:sp>
      <p:sp>
        <p:nvSpPr>
          <p:cNvPr id="26" name="Text 24"/>
          <p:cNvSpPr/>
          <p:nvPr/>
        </p:nvSpPr>
        <p:spPr>
          <a:xfrm>
            <a:off x="1051560" y="4956048"/>
            <a:ext cx="448056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API layer constrains status to Open or Solved only.</a:t>
            </a:r>
            <a:endParaRPr lang="en-US" sz="1150" dirty="0"/>
          </a:p>
        </p:txBody>
      </p:sp>
      <p:sp>
        <p:nvSpPr>
          <p:cNvPr id="27" name="Shape 25"/>
          <p:cNvSpPr/>
          <p:nvPr/>
        </p:nvSpPr>
        <p:spPr>
          <a:xfrm>
            <a:off x="5897880" y="2880360"/>
            <a:ext cx="5715000" cy="3200400"/>
          </a:xfrm>
          <a:prstGeom prst="roundRect">
            <a:avLst>
              <a:gd name="adj" fmla="val 2286"/>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8" name="Text 26"/>
          <p:cNvSpPr/>
          <p:nvPr/>
        </p:nvSpPr>
        <p:spPr>
          <a:xfrm>
            <a:off x="6172200" y="3063240"/>
            <a:ext cx="5120640" cy="365760"/>
          </a:xfrm>
          <a:prstGeom prst="rect">
            <a:avLst/>
          </a:prstGeom>
          <a:noFill/>
          <a:ln/>
        </p:spPr>
        <p:txBody>
          <a:bodyPr wrap="square" lIns="0" tIns="0" rIns="0" bIns="0" rtlCol="0" anchor="ctr"/>
          <a:lstStyle/>
          <a:p>
            <a:pPr indent="0" marL="0">
              <a:buNone/>
            </a:pPr>
            <a:r>
              <a:rPr lang="en-US" sz="1500" b="1" dirty="0">
                <a:solidFill>
                  <a:srgbClr val="2DD4BF"/>
                </a:solidFill>
                <a:latin typeface="Calibri" pitchFamily="34" charset="0"/>
                <a:ea typeface="Calibri" pitchFamily="34" charset="-122"/>
                <a:cs typeface="Calibri" pitchFamily="34" charset="-120"/>
              </a:rPr>
              <a:t>Product Issue Complaints</a:t>
            </a:r>
            <a:endParaRPr lang="en-US" sz="1500" dirty="0"/>
          </a:p>
        </p:txBody>
      </p:sp>
      <p:sp>
        <p:nvSpPr>
          <p:cNvPr id="29" name="Text 27"/>
          <p:cNvSpPr/>
          <p:nvPr/>
        </p:nvSpPr>
        <p:spPr>
          <a:xfrm>
            <a:off x="6172200" y="3429000"/>
            <a:ext cx="521208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Category inherited from the user's registered profile — never from client input</a:t>
            </a:r>
            <a:endParaRPr lang="en-US" sz="1100" dirty="0"/>
          </a:p>
        </p:txBody>
      </p:sp>
      <p:sp>
        <p:nvSpPr>
          <p:cNvPr id="30" name="Shape 28"/>
          <p:cNvSpPr/>
          <p:nvPr/>
        </p:nvSpPr>
        <p:spPr>
          <a:xfrm>
            <a:off x="6172200" y="3895344"/>
            <a:ext cx="82296" cy="82296"/>
          </a:xfrm>
          <a:prstGeom prst="ellipse">
            <a:avLst/>
          </a:prstGeom>
          <a:solidFill>
            <a:srgbClr val="2DD4BF"/>
          </a:solidFill>
          <a:ln/>
        </p:spPr>
      </p:sp>
      <p:sp>
        <p:nvSpPr>
          <p:cNvPr id="31" name="Text 29"/>
          <p:cNvSpPr/>
          <p:nvPr/>
        </p:nvSpPr>
        <p:spPr>
          <a:xfrm>
            <a:off x="6400800" y="3767328"/>
            <a:ext cx="502920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Administrator assigns a verified vendor in the same manufacturing category.</a:t>
            </a:r>
            <a:endParaRPr lang="en-US" sz="1150" dirty="0"/>
          </a:p>
        </p:txBody>
      </p:sp>
      <p:sp>
        <p:nvSpPr>
          <p:cNvPr id="32" name="Shape 30"/>
          <p:cNvSpPr/>
          <p:nvPr/>
        </p:nvSpPr>
        <p:spPr>
          <a:xfrm>
            <a:off x="6172200" y="4489704"/>
            <a:ext cx="82296" cy="82296"/>
          </a:xfrm>
          <a:prstGeom prst="ellipse">
            <a:avLst/>
          </a:prstGeom>
          <a:solidFill>
            <a:srgbClr val="2DD4BF"/>
          </a:solidFill>
          <a:ln/>
        </p:spPr>
      </p:sp>
      <p:sp>
        <p:nvSpPr>
          <p:cNvPr id="33" name="Text 31"/>
          <p:cNvSpPr/>
          <p:nvPr/>
        </p:nvSpPr>
        <p:spPr>
          <a:xfrm>
            <a:off x="6400800" y="4361688"/>
            <a:ext cx="502920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Vendor records a resolution remark against the assigned case.</a:t>
            </a:r>
            <a:endParaRPr lang="en-US" sz="1150" dirty="0"/>
          </a:p>
        </p:txBody>
      </p:sp>
      <p:sp>
        <p:nvSpPr>
          <p:cNvPr id="34" name="Shape 32"/>
          <p:cNvSpPr/>
          <p:nvPr/>
        </p:nvSpPr>
        <p:spPr>
          <a:xfrm>
            <a:off x="6172200" y="5084064"/>
            <a:ext cx="82296" cy="82296"/>
          </a:xfrm>
          <a:prstGeom prst="ellipse">
            <a:avLst/>
          </a:prstGeom>
          <a:solidFill>
            <a:srgbClr val="2DD4BF"/>
          </a:solidFill>
          <a:ln/>
        </p:spPr>
      </p:sp>
      <p:sp>
        <p:nvSpPr>
          <p:cNvPr id="35" name="Text 33"/>
          <p:cNvSpPr/>
          <p:nvPr/>
        </p:nvSpPr>
        <p:spPr>
          <a:xfrm>
            <a:off x="6400800" y="4956048"/>
            <a:ext cx="502920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Consumer confirms closure (Solved) or disputes it for admin review.</a:t>
            </a:r>
            <a:endParaRPr lang="en-US" sz="1150" dirty="0"/>
          </a:p>
        </p:txBody>
      </p:sp>
      <p:sp>
        <p:nvSpPr>
          <p:cNvPr id="36" name="Text 34"/>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37" name="Text 35"/>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DATABASE DESIGN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Five Tables, Cascading Integrity, WAL Mode</a:t>
            </a:r>
            <a:endParaRPr lang="en-US" sz="3000" dirty="0"/>
          </a:p>
        </p:txBody>
      </p:sp>
      <p:sp>
        <p:nvSpPr>
          <p:cNvPr id="4" name="Shape 2"/>
          <p:cNvSpPr/>
          <p:nvPr/>
        </p:nvSpPr>
        <p:spPr>
          <a:xfrm>
            <a:off x="548640" y="1508760"/>
            <a:ext cx="3383280" cy="960120"/>
          </a:xfrm>
          <a:prstGeom prst="roundRect">
            <a:avLst>
              <a:gd name="adj" fmla="val 7619"/>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685800" y="1600200"/>
            <a:ext cx="3108960" cy="292608"/>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users</a:t>
            </a:r>
            <a:endParaRPr lang="en-US" sz="1300" dirty="0"/>
          </a:p>
        </p:txBody>
      </p:sp>
      <p:sp>
        <p:nvSpPr>
          <p:cNvPr id="6" name="Text 4"/>
          <p:cNvSpPr/>
          <p:nvPr/>
        </p:nvSpPr>
        <p:spPr>
          <a:xfrm>
            <a:off x="685800" y="1892808"/>
            <a:ext cx="3108960" cy="320040"/>
          </a:xfrm>
          <a:prstGeom prst="rect">
            <a:avLst/>
          </a:prstGeom>
          <a:noFill/>
          <a:ln/>
        </p:spPr>
        <p:txBody>
          <a:bodyPr wrap="square" lIns="0" tIns="0" rIns="0" bIns="0" rtlCol="0" anchor="ctr"/>
          <a:lstStyle/>
          <a:p>
            <a:pPr indent="0" marL="0">
              <a:buNone/>
            </a:pPr>
            <a:r>
              <a:rPr lang="en-US" sz="950" dirty="0">
                <a:solidFill>
                  <a:srgbClr val="F5F7FA"/>
                </a:solidFill>
                <a:latin typeface="Calibri" pitchFamily="34" charset="0"/>
                <a:ea typeface="Calibri" pitchFamily="34" charset="-122"/>
                <a:cs typeface="Calibri" pitchFamily="34" charset="-120"/>
              </a:rPr>
              <a:t>Accounts, roles, categories, vendor IDs</a:t>
            </a:r>
            <a:endParaRPr lang="en-US" sz="950" dirty="0"/>
          </a:p>
        </p:txBody>
      </p:sp>
      <p:sp>
        <p:nvSpPr>
          <p:cNvPr id="7" name="Text 5"/>
          <p:cNvSpPr/>
          <p:nvPr/>
        </p:nvSpPr>
        <p:spPr>
          <a:xfrm>
            <a:off x="685800" y="2194560"/>
            <a:ext cx="3108960" cy="256032"/>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Parent entity</a:t>
            </a:r>
            <a:endParaRPr lang="en-US" sz="900" dirty="0"/>
          </a:p>
        </p:txBody>
      </p:sp>
      <p:sp>
        <p:nvSpPr>
          <p:cNvPr id="8" name="Shape 6"/>
          <p:cNvSpPr/>
          <p:nvPr/>
        </p:nvSpPr>
        <p:spPr>
          <a:xfrm>
            <a:off x="4160520" y="1508760"/>
            <a:ext cx="3383280" cy="960120"/>
          </a:xfrm>
          <a:prstGeom prst="roundRect">
            <a:avLst>
              <a:gd name="adj" fmla="val 7619"/>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4297680" y="1600200"/>
            <a:ext cx="3108960" cy="292608"/>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email_otps</a:t>
            </a:r>
            <a:endParaRPr lang="en-US" sz="1300" dirty="0"/>
          </a:p>
        </p:txBody>
      </p:sp>
      <p:sp>
        <p:nvSpPr>
          <p:cNvPr id="10" name="Text 8"/>
          <p:cNvSpPr/>
          <p:nvPr/>
        </p:nvSpPr>
        <p:spPr>
          <a:xfrm>
            <a:off x="4297680" y="1892808"/>
            <a:ext cx="3108960" cy="320040"/>
          </a:xfrm>
          <a:prstGeom prst="rect">
            <a:avLst/>
          </a:prstGeom>
          <a:noFill/>
          <a:ln/>
        </p:spPr>
        <p:txBody>
          <a:bodyPr wrap="square" lIns="0" tIns="0" rIns="0" bIns="0" rtlCol="0" anchor="ctr"/>
          <a:lstStyle/>
          <a:p>
            <a:pPr indent="0" marL="0">
              <a:buNone/>
            </a:pPr>
            <a:r>
              <a:rPr lang="en-US" sz="950" dirty="0">
                <a:solidFill>
                  <a:srgbClr val="F5F7FA"/>
                </a:solidFill>
                <a:latin typeface="Calibri" pitchFamily="34" charset="0"/>
                <a:ea typeface="Calibri" pitchFamily="34" charset="-122"/>
                <a:cs typeface="Calibri" pitchFamily="34" charset="-120"/>
              </a:rPr>
              <a:t>6-digit OTP hash, 10-min expiry, attempts</a:t>
            </a:r>
            <a:endParaRPr lang="en-US" sz="950" dirty="0"/>
          </a:p>
        </p:txBody>
      </p:sp>
      <p:sp>
        <p:nvSpPr>
          <p:cNvPr id="11" name="Text 9"/>
          <p:cNvSpPr/>
          <p:nvPr/>
        </p:nvSpPr>
        <p:spPr>
          <a:xfrm>
            <a:off x="4297680" y="2194560"/>
            <a:ext cx="3108960" cy="256032"/>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1:N → users, cascade delete</a:t>
            </a:r>
            <a:endParaRPr lang="en-US" sz="900" dirty="0"/>
          </a:p>
        </p:txBody>
      </p:sp>
      <p:sp>
        <p:nvSpPr>
          <p:cNvPr id="12" name="Shape 10"/>
          <p:cNvSpPr/>
          <p:nvPr/>
        </p:nvSpPr>
        <p:spPr>
          <a:xfrm>
            <a:off x="7772400" y="1508760"/>
            <a:ext cx="3383280" cy="960120"/>
          </a:xfrm>
          <a:prstGeom prst="roundRect">
            <a:avLst>
              <a:gd name="adj" fmla="val 7619"/>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3" name="Text 11"/>
          <p:cNvSpPr/>
          <p:nvPr/>
        </p:nvSpPr>
        <p:spPr>
          <a:xfrm>
            <a:off x="7909560" y="1600200"/>
            <a:ext cx="3108960" cy="292608"/>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password_resets</a:t>
            </a:r>
            <a:endParaRPr lang="en-US" sz="1300" dirty="0"/>
          </a:p>
        </p:txBody>
      </p:sp>
      <p:sp>
        <p:nvSpPr>
          <p:cNvPr id="14" name="Text 12"/>
          <p:cNvSpPr/>
          <p:nvPr/>
        </p:nvSpPr>
        <p:spPr>
          <a:xfrm>
            <a:off x="7909560" y="1892808"/>
            <a:ext cx="3108960" cy="320040"/>
          </a:xfrm>
          <a:prstGeom prst="rect">
            <a:avLst/>
          </a:prstGeom>
          <a:noFill/>
          <a:ln/>
        </p:spPr>
        <p:txBody>
          <a:bodyPr wrap="square" lIns="0" tIns="0" rIns="0" bIns="0" rtlCol="0" anchor="ctr"/>
          <a:lstStyle/>
          <a:p>
            <a:pPr indent="0" marL="0">
              <a:buNone/>
            </a:pPr>
            <a:r>
              <a:rPr lang="en-US" sz="950" dirty="0">
                <a:solidFill>
                  <a:srgbClr val="F5F7FA"/>
                </a:solidFill>
                <a:latin typeface="Calibri" pitchFamily="34" charset="0"/>
                <a:ea typeface="Calibri" pitchFamily="34" charset="-122"/>
                <a:cs typeface="Calibri" pitchFamily="34" charset="-120"/>
              </a:rPr>
              <a:t>Reset hash, expiry, attempt counter</a:t>
            </a:r>
            <a:endParaRPr lang="en-US" sz="950" dirty="0"/>
          </a:p>
        </p:txBody>
      </p:sp>
      <p:sp>
        <p:nvSpPr>
          <p:cNvPr id="15" name="Text 13"/>
          <p:cNvSpPr/>
          <p:nvPr/>
        </p:nvSpPr>
        <p:spPr>
          <a:xfrm>
            <a:off x="7909560" y="2194560"/>
            <a:ext cx="3108960" cy="256032"/>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1:N → users, cascade delete</a:t>
            </a:r>
            <a:endParaRPr lang="en-US" sz="900" dirty="0"/>
          </a:p>
        </p:txBody>
      </p:sp>
      <p:sp>
        <p:nvSpPr>
          <p:cNvPr id="16" name="Shape 14"/>
          <p:cNvSpPr/>
          <p:nvPr/>
        </p:nvSpPr>
        <p:spPr>
          <a:xfrm>
            <a:off x="548640" y="2651760"/>
            <a:ext cx="3383280" cy="960120"/>
          </a:xfrm>
          <a:prstGeom prst="roundRect">
            <a:avLst>
              <a:gd name="adj" fmla="val 7619"/>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7" name="Text 15"/>
          <p:cNvSpPr/>
          <p:nvPr/>
        </p:nvSpPr>
        <p:spPr>
          <a:xfrm>
            <a:off x="685800" y="2743200"/>
            <a:ext cx="3108960" cy="292608"/>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complaints</a:t>
            </a:r>
            <a:endParaRPr lang="en-US" sz="1300" dirty="0"/>
          </a:p>
        </p:txBody>
      </p:sp>
      <p:sp>
        <p:nvSpPr>
          <p:cNvPr id="18" name="Text 16"/>
          <p:cNvSpPr/>
          <p:nvPr/>
        </p:nvSpPr>
        <p:spPr>
          <a:xfrm>
            <a:off x="685800" y="3035808"/>
            <a:ext cx="3108960" cy="320040"/>
          </a:xfrm>
          <a:prstGeom prst="rect">
            <a:avLst/>
          </a:prstGeom>
          <a:noFill/>
          <a:ln/>
        </p:spPr>
        <p:txBody>
          <a:bodyPr wrap="square" lIns="0" tIns="0" rIns="0" bIns="0" rtlCol="0" anchor="ctr"/>
          <a:lstStyle/>
          <a:p>
            <a:pPr indent="0" marL="0">
              <a:buNone/>
            </a:pPr>
            <a:r>
              <a:rPr lang="en-US" sz="950" dirty="0">
                <a:solidFill>
                  <a:srgbClr val="F5F7FA"/>
                </a:solidFill>
                <a:latin typeface="Calibri" pitchFamily="34" charset="0"/>
                <a:ea typeface="Calibri" pitchFamily="34" charset="-122"/>
                <a:cs typeface="Calibri" pitchFamily="34" charset="-120"/>
              </a:rPr>
              <a:t>Type, category, status, remarks, timestamps</a:t>
            </a:r>
            <a:endParaRPr lang="en-US" sz="950" dirty="0"/>
          </a:p>
        </p:txBody>
      </p:sp>
      <p:sp>
        <p:nvSpPr>
          <p:cNvPr id="19" name="Text 17"/>
          <p:cNvSpPr/>
          <p:nvPr/>
        </p:nvSpPr>
        <p:spPr>
          <a:xfrm>
            <a:off x="685800" y="3337560"/>
            <a:ext cx="3108960" cy="256032"/>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FK owner (cascade) + vendor (set null)</a:t>
            </a:r>
            <a:endParaRPr lang="en-US" sz="900" dirty="0"/>
          </a:p>
        </p:txBody>
      </p:sp>
      <p:sp>
        <p:nvSpPr>
          <p:cNvPr id="20" name="Shape 18"/>
          <p:cNvSpPr/>
          <p:nvPr/>
        </p:nvSpPr>
        <p:spPr>
          <a:xfrm>
            <a:off x="4160520" y="2651760"/>
            <a:ext cx="3383280" cy="960120"/>
          </a:xfrm>
          <a:prstGeom prst="roundRect">
            <a:avLst>
              <a:gd name="adj" fmla="val 7619"/>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1" name="Text 19"/>
          <p:cNvSpPr/>
          <p:nvPr/>
        </p:nvSpPr>
        <p:spPr>
          <a:xfrm>
            <a:off x="4297680" y="2743200"/>
            <a:ext cx="3108960" cy="292608"/>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comments</a:t>
            </a:r>
            <a:endParaRPr lang="en-US" sz="1300" dirty="0"/>
          </a:p>
        </p:txBody>
      </p:sp>
      <p:sp>
        <p:nvSpPr>
          <p:cNvPr id="22" name="Text 20"/>
          <p:cNvSpPr/>
          <p:nvPr/>
        </p:nvSpPr>
        <p:spPr>
          <a:xfrm>
            <a:off x="4297680" y="3035808"/>
            <a:ext cx="3108960" cy="320040"/>
          </a:xfrm>
          <a:prstGeom prst="rect">
            <a:avLst/>
          </a:prstGeom>
          <a:noFill/>
          <a:ln/>
        </p:spPr>
        <p:txBody>
          <a:bodyPr wrap="square" lIns="0" tIns="0" rIns="0" bIns="0" rtlCol="0" anchor="ctr"/>
          <a:lstStyle/>
          <a:p>
            <a:pPr indent="0" marL="0">
              <a:buNone/>
            </a:pPr>
            <a:r>
              <a:rPr lang="en-US" sz="950" dirty="0">
                <a:solidFill>
                  <a:srgbClr val="F5F7FA"/>
                </a:solidFill>
                <a:latin typeface="Calibri" pitchFamily="34" charset="0"/>
                <a:ea typeface="Calibri" pitchFamily="34" charset="-122"/>
                <a:cs typeface="Calibri" pitchFamily="34" charset="-120"/>
              </a:rPr>
              <a:t>Complaint thread entries</a:t>
            </a:r>
            <a:endParaRPr lang="en-US" sz="950" dirty="0"/>
          </a:p>
        </p:txBody>
      </p:sp>
      <p:sp>
        <p:nvSpPr>
          <p:cNvPr id="23" name="Text 21"/>
          <p:cNvSpPr/>
          <p:nvPr/>
        </p:nvSpPr>
        <p:spPr>
          <a:xfrm>
            <a:off x="4297680" y="3337560"/>
            <a:ext cx="3108960" cy="256032"/>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FK complaint &amp; author, cascade delete</a:t>
            </a:r>
            <a:endParaRPr lang="en-US" sz="900" dirty="0"/>
          </a:p>
        </p:txBody>
      </p:sp>
      <p:sp>
        <p:nvSpPr>
          <p:cNvPr id="24" name="Shape 22"/>
          <p:cNvSpPr/>
          <p:nvPr/>
        </p:nvSpPr>
        <p:spPr>
          <a:xfrm>
            <a:off x="548640" y="3977640"/>
            <a:ext cx="10881360" cy="2148840"/>
          </a:xfrm>
          <a:prstGeom prst="roundRect">
            <a:avLst>
              <a:gd name="adj" fmla="val 3404"/>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5" name="Text 23"/>
          <p:cNvSpPr/>
          <p:nvPr/>
        </p:nvSpPr>
        <p:spPr>
          <a:xfrm>
            <a:off x="822960" y="4114800"/>
            <a:ext cx="5486400" cy="320040"/>
          </a:xfrm>
          <a:prstGeom prst="rect">
            <a:avLst/>
          </a:prstGeom>
          <a:noFill/>
          <a:ln/>
        </p:spPr>
        <p:txBody>
          <a:bodyPr wrap="square" lIns="0" tIns="0" rIns="0" bIns="0" rtlCol="0" anchor="ctr"/>
          <a:lstStyle/>
          <a:p>
            <a:pPr indent="0" marL="0">
              <a:buNone/>
            </a:pPr>
            <a:r>
              <a:rPr lang="en-US" sz="1300" b="1" dirty="0">
                <a:solidFill>
                  <a:srgbClr val="F0B429"/>
                </a:solidFill>
                <a:latin typeface="Calibri" pitchFamily="34" charset="0"/>
                <a:ea typeface="Calibri" pitchFamily="34" charset="-122"/>
                <a:cs typeface="Calibri" pitchFamily="34" charset="-120"/>
              </a:rPr>
              <a:t>Constraints, Indexes &amp; Migrations</a:t>
            </a:r>
            <a:endParaRPr lang="en-US" sz="1300" dirty="0"/>
          </a:p>
        </p:txBody>
      </p:sp>
      <p:sp>
        <p:nvSpPr>
          <p:cNvPr id="26" name="Text 24"/>
          <p:cNvSpPr/>
          <p:nvPr/>
        </p:nvSpPr>
        <p:spPr>
          <a:xfrm>
            <a:off x="822960" y="4526280"/>
            <a:ext cx="10332720" cy="301752"/>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  users.email and users.vendor_id are case-insensitive UNIQUE fields.</a:t>
            </a:r>
            <a:endParaRPr lang="en-US" sz="1100" dirty="0"/>
          </a:p>
        </p:txBody>
      </p:sp>
      <p:sp>
        <p:nvSpPr>
          <p:cNvPr id="27" name="Text 25"/>
          <p:cNvSpPr/>
          <p:nvPr/>
        </p:nvSpPr>
        <p:spPr>
          <a:xfrm>
            <a:off x="822960" y="4818888"/>
            <a:ext cx="10332720" cy="301752"/>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  CHECK constraints restrict user_type, role, complaint_type and status values.</a:t>
            </a:r>
            <a:endParaRPr lang="en-US" sz="1100" dirty="0"/>
          </a:p>
        </p:txBody>
      </p:sp>
      <p:sp>
        <p:nvSpPr>
          <p:cNvPr id="28" name="Text 26"/>
          <p:cNvSpPr/>
          <p:nvPr/>
        </p:nvSpPr>
        <p:spPr>
          <a:xfrm>
            <a:off x="822960" y="5111496"/>
            <a:ext cx="10332720" cy="301752"/>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  PRAGMA foreign_keys = ON with explicit ON DELETE CASCADE / SET NULL behavior.</a:t>
            </a:r>
            <a:endParaRPr lang="en-US" sz="1100" dirty="0"/>
          </a:p>
        </p:txBody>
      </p:sp>
      <p:sp>
        <p:nvSpPr>
          <p:cNvPr id="29" name="Text 27"/>
          <p:cNvSpPr/>
          <p:nvPr/>
        </p:nvSpPr>
        <p:spPr>
          <a:xfrm>
            <a:off x="822960" y="5404104"/>
            <a:ext cx="10332720" cy="301752"/>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  idx_complaints_user and idx_comments_complaint accelerate common queries.</a:t>
            </a:r>
            <a:endParaRPr lang="en-US" sz="1100" dirty="0"/>
          </a:p>
        </p:txBody>
      </p:sp>
      <p:sp>
        <p:nvSpPr>
          <p:cNvPr id="30" name="Text 28"/>
          <p:cNvSpPr/>
          <p:nvPr/>
        </p:nvSpPr>
        <p:spPr>
          <a:xfrm>
            <a:off x="822960" y="5696712"/>
            <a:ext cx="10332720" cy="301752"/>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  Legacy user &amp; complaint schemas are auto-migrated; old rows preserved as Direct/General.</a:t>
            </a:r>
            <a:endParaRPr lang="en-US" sz="1100" dirty="0"/>
          </a:p>
        </p:txBody>
      </p:sp>
      <p:sp>
        <p:nvSpPr>
          <p:cNvPr id="31" name="Text 29"/>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32" name="Text 30"/>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MODULE DESCRIPTION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Four Functional Modules</a:t>
            </a:r>
            <a:endParaRPr lang="en-US" sz="3000" dirty="0"/>
          </a:p>
        </p:txBody>
      </p:sp>
      <p:sp>
        <p:nvSpPr>
          <p:cNvPr id="4" name="Shape 2"/>
          <p:cNvSpPr/>
          <p:nvPr/>
        </p:nvSpPr>
        <p:spPr>
          <a:xfrm>
            <a:off x="548640" y="1508760"/>
            <a:ext cx="5257800" cy="2148840"/>
          </a:xfrm>
          <a:prstGeom prst="roundRect">
            <a:avLst>
              <a:gd name="adj" fmla="val 3404"/>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77240" y="1737360"/>
            <a:ext cx="411480" cy="411480"/>
          </a:xfrm>
          <a:prstGeom prst="roundRect">
            <a:avLst>
              <a:gd name="adj" fmla="val 48889"/>
            </a:avLst>
          </a:prstGeom>
          <a:solidFill>
            <a:srgbClr val="111827"/>
          </a:solidFill>
          <a:ln w="12700">
            <a:solidFill>
              <a:srgbClr val="2DD4BF"/>
            </a:solidFill>
            <a:prstDash val="solid"/>
          </a:ln>
        </p:spPr>
      </p:sp>
      <p:sp>
        <p:nvSpPr>
          <p:cNvPr id="6" name="Text 4"/>
          <p:cNvSpPr/>
          <p:nvPr/>
        </p:nvSpPr>
        <p:spPr>
          <a:xfrm>
            <a:off x="777240" y="1737360"/>
            <a:ext cx="411480" cy="411480"/>
          </a:xfrm>
          <a:prstGeom prst="rect">
            <a:avLst/>
          </a:prstGeom>
          <a:noFill/>
          <a:ln/>
        </p:spPr>
        <p:txBody>
          <a:bodyPr wrap="square" lIns="0" tIns="0" rIns="0" bIns="0" rtlCol="0" anchor="ctr"/>
          <a:lstStyle/>
          <a:p>
            <a:pPr algn="ctr" indent="0" marL="0">
              <a:buNone/>
            </a:pPr>
            <a:r>
              <a:rPr lang="en-US" sz="1400" b="1" dirty="0">
                <a:solidFill>
                  <a:srgbClr val="2DD4B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25880" y="1709928"/>
            <a:ext cx="4251960" cy="457200"/>
          </a:xfrm>
          <a:prstGeom prst="rect">
            <a:avLst/>
          </a:prstGeom>
          <a:noFill/>
          <a:ln/>
        </p:spPr>
        <p:txBody>
          <a:bodyPr wrap="square" lIns="0" tIns="0" rIns="0" bIns="0"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Authentication Module</a:t>
            </a:r>
            <a:endParaRPr lang="en-US" sz="1400" dirty="0"/>
          </a:p>
        </p:txBody>
      </p:sp>
      <p:sp>
        <p:nvSpPr>
          <p:cNvPr id="8" name="Text 6"/>
          <p:cNvSpPr/>
          <p:nvPr/>
        </p:nvSpPr>
        <p:spPr>
          <a:xfrm>
            <a:off x="777240" y="2286000"/>
            <a:ext cx="4800600" cy="1188720"/>
          </a:xfrm>
          <a:prstGeom prst="rect">
            <a:avLst/>
          </a:prstGeom>
          <a:noFill/>
          <a:ln/>
        </p:spPr>
        <p:txBody>
          <a:bodyPr wrap="square" lIns="0" tIns="0" rIns="0" bIns="0"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Registration validation, bcrypt hashing, six-digit OTP via crypto.randomInt, SHA-256 hashed &amp; stored with 10-min expiry. Verification runs atomically in a transaction.</a:t>
            </a:r>
            <a:endParaRPr lang="en-US" sz="1100" dirty="0"/>
          </a:p>
        </p:txBody>
      </p:sp>
      <p:sp>
        <p:nvSpPr>
          <p:cNvPr id="9" name="Shape 7"/>
          <p:cNvSpPr/>
          <p:nvPr/>
        </p:nvSpPr>
        <p:spPr>
          <a:xfrm>
            <a:off x="6172200" y="1508760"/>
            <a:ext cx="5257800" cy="2148840"/>
          </a:xfrm>
          <a:prstGeom prst="roundRect">
            <a:avLst>
              <a:gd name="adj" fmla="val 3404"/>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6400800" y="1737360"/>
            <a:ext cx="411480" cy="411480"/>
          </a:xfrm>
          <a:prstGeom prst="roundRect">
            <a:avLst>
              <a:gd name="adj" fmla="val 48889"/>
            </a:avLst>
          </a:prstGeom>
          <a:solidFill>
            <a:srgbClr val="111827"/>
          </a:solidFill>
          <a:ln w="12700">
            <a:solidFill>
              <a:srgbClr val="2DD4BF"/>
            </a:solidFill>
            <a:prstDash val="solid"/>
          </a:ln>
        </p:spPr>
      </p:sp>
      <p:sp>
        <p:nvSpPr>
          <p:cNvPr id="11" name="Text 9"/>
          <p:cNvSpPr/>
          <p:nvPr/>
        </p:nvSpPr>
        <p:spPr>
          <a:xfrm>
            <a:off x="6400800" y="1737360"/>
            <a:ext cx="411480" cy="411480"/>
          </a:xfrm>
          <a:prstGeom prst="rect">
            <a:avLst/>
          </a:prstGeom>
          <a:noFill/>
          <a:ln/>
        </p:spPr>
        <p:txBody>
          <a:bodyPr wrap="square" lIns="0" tIns="0" rIns="0" bIns="0" rtlCol="0" anchor="ctr"/>
          <a:lstStyle/>
          <a:p>
            <a:pPr algn="ctr" indent="0" marL="0">
              <a:buNone/>
            </a:pPr>
            <a:r>
              <a:rPr lang="en-US" sz="1400" b="1" dirty="0">
                <a:solidFill>
                  <a:srgbClr val="2DD4B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6949440" y="1709928"/>
            <a:ext cx="4251960" cy="457200"/>
          </a:xfrm>
          <a:prstGeom prst="rect">
            <a:avLst/>
          </a:prstGeom>
          <a:noFill/>
          <a:ln/>
        </p:spPr>
        <p:txBody>
          <a:bodyPr wrap="square" lIns="0" tIns="0" rIns="0" bIns="0"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Complaint &amp; Routing Module</a:t>
            </a:r>
            <a:endParaRPr lang="en-US" sz="1400" dirty="0"/>
          </a:p>
        </p:txBody>
      </p:sp>
      <p:sp>
        <p:nvSpPr>
          <p:cNvPr id="13" name="Text 11"/>
          <p:cNvSpPr/>
          <p:nvPr/>
        </p:nvSpPr>
        <p:spPr>
          <a:xfrm>
            <a:off x="6400800" y="2286000"/>
            <a:ext cx="4800600" cy="1188720"/>
          </a:xfrm>
          <a:prstGeom prst="rect">
            <a:avLst/>
          </a:prstGeom>
          <a:noFill/>
          <a:ln/>
        </p:spPr>
        <p:txBody>
          <a:bodyPr wrap="square" lIns="0" tIns="0" rIns="0" bIns="0"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Distinguishes Product Issue vs Direct. Product Issue category is read from req.session.user.category — never req.body — preventing client-side manipulation.</a:t>
            </a:r>
            <a:endParaRPr lang="en-US" sz="1100" dirty="0"/>
          </a:p>
        </p:txBody>
      </p:sp>
      <p:sp>
        <p:nvSpPr>
          <p:cNvPr id="14" name="Shape 12"/>
          <p:cNvSpPr/>
          <p:nvPr/>
        </p:nvSpPr>
        <p:spPr>
          <a:xfrm>
            <a:off x="548640" y="3886200"/>
            <a:ext cx="5257800" cy="2148840"/>
          </a:xfrm>
          <a:prstGeom prst="roundRect">
            <a:avLst>
              <a:gd name="adj" fmla="val 3404"/>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5" name="Shape 13"/>
          <p:cNvSpPr/>
          <p:nvPr/>
        </p:nvSpPr>
        <p:spPr>
          <a:xfrm>
            <a:off x="777240" y="4114800"/>
            <a:ext cx="411480" cy="411480"/>
          </a:xfrm>
          <a:prstGeom prst="roundRect">
            <a:avLst>
              <a:gd name="adj" fmla="val 48889"/>
            </a:avLst>
          </a:prstGeom>
          <a:solidFill>
            <a:srgbClr val="111827"/>
          </a:solidFill>
          <a:ln w="12700">
            <a:solidFill>
              <a:srgbClr val="2DD4BF"/>
            </a:solidFill>
            <a:prstDash val="solid"/>
          </a:ln>
        </p:spPr>
      </p:sp>
      <p:sp>
        <p:nvSpPr>
          <p:cNvPr id="16" name="Text 14"/>
          <p:cNvSpPr/>
          <p:nvPr/>
        </p:nvSpPr>
        <p:spPr>
          <a:xfrm>
            <a:off x="777240" y="4114800"/>
            <a:ext cx="411480" cy="411480"/>
          </a:xfrm>
          <a:prstGeom prst="rect">
            <a:avLst/>
          </a:prstGeom>
          <a:noFill/>
          <a:ln/>
        </p:spPr>
        <p:txBody>
          <a:bodyPr wrap="square" lIns="0" tIns="0" rIns="0" bIns="0" rtlCol="0" anchor="ctr"/>
          <a:lstStyle/>
          <a:p>
            <a:pPr algn="ctr" indent="0" marL="0">
              <a:buNone/>
            </a:pPr>
            <a:r>
              <a:rPr lang="en-US" sz="1400" b="1" dirty="0">
                <a:solidFill>
                  <a:srgbClr val="2DD4B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325880" y="4087368"/>
            <a:ext cx="4251960" cy="457200"/>
          </a:xfrm>
          <a:prstGeom prst="rect">
            <a:avLst/>
          </a:prstGeom>
          <a:noFill/>
          <a:ln/>
        </p:spPr>
        <p:txBody>
          <a:bodyPr wrap="square" lIns="0" tIns="0" rIns="0" bIns="0"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Admin / Vendor / Consumer Modules</a:t>
            </a:r>
            <a:endParaRPr lang="en-US" sz="1400" dirty="0"/>
          </a:p>
        </p:txBody>
      </p:sp>
      <p:sp>
        <p:nvSpPr>
          <p:cNvPr id="18" name="Text 16"/>
          <p:cNvSpPr/>
          <p:nvPr/>
        </p:nvSpPr>
        <p:spPr>
          <a:xfrm>
            <a:off x="777240" y="4663440"/>
            <a:ext cx="4800600" cy="1188720"/>
          </a:xfrm>
          <a:prstGeom prst="rect">
            <a:avLst/>
          </a:prstGeom>
          <a:noFill/>
          <a:ln/>
        </p:spPr>
        <p:txBody>
          <a:bodyPr wrap="square" lIns="0" tIns="0" rIns="0" bIns="0"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Admin mediates and validates vendor-category match. Vendors act only on assigned cases. Consumers confirm or dispute only their own Vendor Resolved cases.</a:t>
            </a:r>
            <a:endParaRPr lang="en-US" sz="1100" dirty="0"/>
          </a:p>
        </p:txBody>
      </p:sp>
      <p:sp>
        <p:nvSpPr>
          <p:cNvPr id="19" name="Shape 17"/>
          <p:cNvSpPr/>
          <p:nvPr/>
        </p:nvSpPr>
        <p:spPr>
          <a:xfrm>
            <a:off x="6172200" y="3886200"/>
            <a:ext cx="5257800" cy="2148840"/>
          </a:xfrm>
          <a:prstGeom prst="roundRect">
            <a:avLst>
              <a:gd name="adj" fmla="val 3404"/>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0" name="Shape 18"/>
          <p:cNvSpPr/>
          <p:nvPr/>
        </p:nvSpPr>
        <p:spPr>
          <a:xfrm>
            <a:off x="6400800" y="4114800"/>
            <a:ext cx="411480" cy="411480"/>
          </a:xfrm>
          <a:prstGeom prst="roundRect">
            <a:avLst>
              <a:gd name="adj" fmla="val 48889"/>
            </a:avLst>
          </a:prstGeom>
          <a:solidFill>
            <a:srgbClr val="111827"/>
          </a:solidFill>
          <a:ln w="12700">
            <a:solidFill>
              <a:srgbClr val="2DD4BF"/>
            </a:solidFill>
            <a:prstDash val="solid"/>
          </a:ln>
        </p:spPr>
      </p:sp>
      <p:sp>
        <p:nvSpPr>
          <p:cNvPr id="21" name="Text 19"/>
          <p:cNvSpPr/>
          <p:nvPr/>
        </p:nvSpPr>
        <p:spPr>
          <a:xfrm>
            <a:off x="6400800" y="4114800"/>
            <a:ext cx="411480" cy="411480"/>
          </a:xfrm>
          <a:prstGeom prst="rect">
            <a:avLst/>
          </a:prstGeom>
          <a:noFill/>
          <a:ln/>
        </p:spPr>
        <p:txBody>
          <a:bodyPr wrap="square" lIns="0" tIns="0" rIns="0" bIns="0" rtlCol="0" anchor="ctr"/>
          <a:lstStyle/>
          <a:p>
            <a:pPr algn="ctr" indent="0" marL="0">
              <a:buNone/>
            </a:pPr>
            <a:r>
              <a:rPr lang="en-US" sz="1400" b="1" dirty="0">
                <a:solidFill>
                  <a:srgbClr val="2DD4B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6949440" y="4087368"/>
            <a:ext cx="4251960" cy="457200"/>
          </a:xfrm>
          <a:prstGeom prst="rect">
            <a:avLst/>
          </a:prstGeom>
          <a:noFill/>
          <a:ln/>
        </p:spPr>
        <p:txBody>
          <a:bodyPr wrap="square" lIns="0" tIns="0" rIns="0" bIns="0"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Security Module</a:t>
            </a:r>
            <a:endParaRPr lang="en-US" sz="1400" dirty="0"/>
          </a:p>
        </p:txBody>
      </p:sp>
      <p:sp>
        <p:nvSpPr>
          <p:cNvPr id="23" name="Text 21"/>
          <p:cNvSpPr/>
          <p:nvPr/>
        </p:nvSpPr>
        <p:spPr>
          <a:xfrm>
            <a:off x="6400800" y="4663440"/>
            <a:ext cx="4800600" cy="1188720"/>
          </a:xfrm>
          <a:prstGeom prst="rect">
            <a:avLst/>
          </a:prstGeom>
          <a:noFill/>
          <a:ln/>
        </p:spPr>
        <p:txBody>
          <a:bodyPr wrap="square" lIns="0" tIns="0" rIns="0" bIns="0"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HTTP-only SameSite cookies, 8-hour max age, Helmet headers, separate auth/OTP rate limits, role middleware, input sanitisation, parameterized queries, file-type whitelist.</a:t>
            </a:r>
            <a:endParaRPr lang="en-US" sz="1100" dirty="0"/>
          </a:p>
        </p:txBody>
      </p:sp>
      <p:sp>
        <p:nvSpPr>
          <p:cNvPr id="24" name="Text 22"/>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25" name="Text 23"/>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API DESIGN &amp; SECURITY</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REST-Style JSON API with Layered Security Controls</a:t>
            </a:r>
            <a:endParaRPr lang="en-US" sz="3000" dirty="0"/>
          </a:p>
        </p:txBody>
      </p:sp>
      <p:sp>
        <p:nvSpPr>
          <p:cNvPr id="4" name="Shape 2"/>
          <p:cNvSpPr/>
          <p:nvPr/>
        </p:nvSpPr>
        <p:spPr>
          <a:xfrm>
            <a:off x="548640" y="1463040"/>
            <a:ext cx="5394960" cy="4663440"/>
          </a:xfrm>
          <a:prstGeom prst="roundRect">
            <a:avLst>
              <a:gd name="adj" fmla="val 1569"/>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822960" y="1645920"/>
            <a:ext cx="4846320" cy="32004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API Route Groups</a:t>
            </a:r>
            <a:endParaRPr lang="en-US" sz="1400" dirty="0"/>
          </a:p>
        </p:txBody>
      </p:sp>
      <p:sp>
        <p:nvSpPr>
          <p:cNvPr id="6" name="Text 4"/>
          <p:cNvSpPr/>
          <p:nvPr/>
        </p:nvSpPr>
        <p:spPr>
          <a:xfrm>
            <a:off x="822960" y="2103120"/>
            <a:ext cx="2011680" cy="365760"/>
          </a:xfrm>
          <a:prstGeom prst="rect">
            <a:avLst/>
          </a:prstGeom>
          <a:noFill/>
          <a:ln/>
        </p:spPr>
        <p:txBody>
          <a:bodyPr wrap="square" lIns="0" tIns="0" rIns="0" bIns="0" rtlCol="0" anchor="ctr"/>
          <a:lstStyle/>
          <a:p>
            <a:pPr indent="0" marL="0">
              <a:buNone/>
            </a:pPr>
            <a:r>
              <a:rPr lang="en-US" sz="1200" b="1" dirty="0">
                <a:solidFill>
                  <a:srgbClr val="F0B429"/>
                </a:solidFill>
                <a:latin typeface="Courier New" pitchFamily="34" charset="0"/>
                <a:ea typeface="Courier New" pitchFamily="34" charset="-122"/>
                <a:cs typeface="Courier New" pitchFamily="34" charset="-120"/>
              </a:rPr>
              <a:t>/api/auth</a:t>
            </a:r>
            <a:endParaRPr lang="en-US" sz="1200" dirty="0"/>
          </a:p>
        </p:txBody>
      </p:sp>
      <p:sp>
        <p:nvSpPr>
          <p:cNvPr id="7" name="Text 5"/>
          <p:cNvSpPr/>
          <p:nvPr/>
        </p:nvSpPr>
        <p:spPr>
          <a:xfrm>
            <a:off x="2834640" y="2103120"/>
            <a:ext cx="2926080" cy="457200"/>
          </a:xfrm>
          <a:prstGeom prst="rect">
            <a:avLst/>
          </a:prstGeom>
          <a:noFill/>
          <a:ln/>
        </p:spPr>
        <p:txBody>
          <a:bodyPr wrap="square" lIns="0" tIns="0"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register · verify-otp · login · forgot/reset-password</a:t>
            </a:r>
            <a:endParaRPr lang="en-US" sz="1050" dirty="0"/>
          </a:p>
        </p:txBody>
      </p:sp>
      <p:sp>
        <p:nvSpPr>
          <p:cNvPr id="8" name="Text 6"/>
          <p:cNvSpPr/>
          <p:nvPr/>
        </p:nvSpPr>
        <p:spPr>
          <a:xfrm>
            <a:off x="822960" y="2651760"/>
            <a:ext cx="2011680" cy="365760"/>
          </a:xfrm>
          <a:prstGeom prst="rect">
            <a:avLst/>
          </a:prstGeom>
          <a:noFill/>
          <a:ln/>
        </p:spPr>
        <p:txBody>
          <a:bodyPr wrap="square" lIns="0" tIns="0" rIns="0" bIns="0" rtlCol="0" anchor="ctr"/>
          <a:lstStyle/>
          <a:p>
            <a:pPr indent="0" marL="0">
              <a:buNone/>
            </a:pPr>
            <a:r>
              <a:rPr lang="en-US" sz="1200" b="1" dirty="0">
                <a:solidFill>
                  <a:srgbClr val="F0B429"/>
                </a:solidFill>
                <a:latin typeface="Courier New" pitchFamily="34" charset="0"/>
                <a:ea typeface="Courier New" pitchFamily="34" charset="-122"/>
                <a:cs typeface="Courier New" pitchFamily="34" charset="-120"/>
              </a:rPr>
              <a:t>/api/complaints</a:t>
            </a:r>
            <a:endParaRPr lang="en-US" sz="1200" dirty="0"/>
          </a:p>
        </p:txBody>
      </p:sp>
      <p:sp>
        <p:nvSpPr>
          <p:cNvPr id="9" name="Text 7"/>
          <p:cNvSpPr/>
          <p:nvPr/>
        </p:nvSpPr>
        <p:spPr>
          <a:xfrm>
            <a:off x="2834640" y="2651760"/>
            <a:ext cx="2926080" cy="457200"/>
          </a:xfrm>
          <a:prstGeom prst="rect">
            <a:avLst/>
          </a:prstGeom>
          <a:noFill/>
          <a:ln/>
        </p:spPr>
        <p:txBody>
          <a:bodyPr wrap="square" lIns="0" tIns="0"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list · create · detail · comments</a:t>
            </a:r>
            <a:endParaRPr lang="en-US" sz="1050" dirty="0"/>
          </a:p>
        </p:txBody>
      </p:sp>
      <p:sp>
        <p:nvSpPr>
          <p:cNvPr id="10" name="Text 8"/>
          <p:cNvSpPr/>
          <p:nvPr/>
        </p:nvSpPr>
        <p:spPr>
          <a:xfrm>
            <a:off x="822960" y="3200400"/>
            <a:ext cx="2011680" cy="365760"/>
          </a:xfrm>
          <a:prstGeom prst="rect">
            <a:avLst/>
          </a:prstGeom>
          <a:noFill/>
          <a:ln/>
        </p:spPr>
        <p:txBody>
          <a:bodyPr wrap="square" lIns="0" tIns="0" rIns="0" bIns="0" rtlCol="0" anchor="ctr"/>
          <a:lstStyle/>
          <a:p>
            <a:pPr indent="0" marL="0">
              <a:buNone/>
            </a:pPr>
            <a:r>
              <a:rPr lang="en-US" sz="1200" b="1" dirty="0">
                <a:solidFill>
                  <a:srgbClr val="F0B429"/>
                </a:solidFill>
                <a:latin typeface="Courier New" pitchFamily="34" charset="0"/>
                <a:ea typeface="Courier New" pitchFamily="34" charset="-122"/>
                <a:cs typeface="Courier New" pitchFamily="34" charset="-120"/>
              </a:rPr>
              <a:t>/api/public</a:t>
            </a:r>
            <a:endParaRPr lang="en-US" sz="1200" dirty="0"/>
          </a:p>
        </p:txBody>
      </p:sp>
      <p:sp>
        <p:nvSpPr>
          <p:cNvPr id="11" name="Text 9"/>
          <p:cNvSpPr/>
          <p:nvPr/>
        </p:nvSpPr>
        <p:spPr>
          <a:xfrm>
            <a:off x="2834640" y="3200400"/>
            <a:ext cx="2926080" cy="457200"/>
          </a:xfrm>
          <a:prstGeom prst="rect">
            <a:avLst/>
          </a:prstGeom>
          <a:noFill/>
          <a:ln/>
        </p:spPr>
        <p:txBody>
          <a:bodyPr wrap="square" lIns="0" tIns="0"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verified vendor discovery</a:t>
            </a:r>
            <a:endParaRPr lang="en-US" sz="1050" dirty="0"/>
          </a:p>
        </p:txBody>
      </p:sp>
      <p:sp>
        <p:nvSpPr>
          <p:cNvPr id="12" name="Text 10"/>
          <p:cNvSpPr/>
          <p:nvPr/>
        </p:nvSpPr>
        <p:spPr>
          <a:xfrm>
            <a:off x="822960" y="3749040"/>
            <a:ext cx="2011680" cy="365760"/>
          </a:xfrm>
          <a:prstGeom prst="rect">
            <a:avLst/>
          </a:prstGeom>
          <a:noFill/>
          <a:ln/>
        </p:spPr>
        <p:txBody>
          <a:bodyPr wrap="square" lIns="0" tIns="0" rIns="0" bIns="0" rtlCol="0" anchor="ctr"/>
          <a:lstStyle/>
          <a:p>
            <a:pPr indent="0" marL="0">
              <a:buNone/>
            </a:pPr>
            <a:r>
              <a:rPr lang="en-US" sz="1200" b="1" dirty="0">
                <a:solidFill>
                  <a:srgbClr val="F0B429"/>
                </a:solidFill>
                <a:latin typeface="Courier New" pitchFamily="34" charset="0"/>
                <a:ea typeface="Courier New" pitchFamily="34" charset="-122"/>
                <a:cs typeface="Courier New" pitchFamily="34" charset="-120"/>
              </a:rPr>
              <a:t>/api/admin</a:t>
            </a:r>
            <a:endParaRPr lang="en-US" sz="1200" dirty="0"/>
          </a:p>
        </p:txBody>
      </p:sp>
      <p:sp>
        <p:nvSpPr>
          <p:cNvPr id="13" name="Text 11"/>
          <p:cNvSpPr/>
          <p:nvPr/>
        </p:nvSpPr>
        <p:spPr>
          <a:xfrm>
            <a:off x="2834640" y="3749040"/>
            <a:ext cx="2926080" cy="457200"/>
          </a:xfrm>
          <a:prstGeom prst="rect">
            <a:avLst/>
          </a:prstGeom>
          <a:noFill/>
          <a:ln/>
        </p:spPr>
        <p:txBody>
          <a:bodyPr wrap="square" lIns="0" tIns="0"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assignment · status · statistics</a:t>
            </a:r>
            <a:endParaRPr lang="en-US" sz="1050" dirty="0"/>
          </a:p>
        </p:txBody>
      </p:sp>
      <p:sp>
        <p:nvSpPr>
          <p:cNvPr id="14" name="Text 12"/>
          <p:cNvSpPr/>
          <p:nvPr/>
        </p:nvSpPr>
        <p:spPr>
          <a:xfrm>
            <a:off x="822960" y="4297680"/>
            <a:ext cx="2011680" cy="365760"/>
          </a:xfrm>
          <a:prstGeom prst="rect">
            <a:avLst/>
          </a:prstGeom>
          <a:noFill/>
          <a:ln/>
        </p:spPr>
        <p:txBody>
          <a:bodyPr wrap="square" lIns="0" tIns="0" rIns="0" bIns="0" rtlCol="0" anchor="ctr"/>
          <a:lstStyle/>
          <a:p>
            <a:pPr indent="0" marL="0">
              <a:buNone/>
            </a:pPr>
            <a:r>
              <a:rPr lang="en-US" sz="1200" b="1" dirty="0">
                <a:solidFill>
                  <a:srgbClr val="F0B429"/>
                </a:solidFill>
                <a:latin typeface="Courier New" pitchFamily="34" charset="0"/>
                <a:ea typeface="Courier New" pitchFamily="34" charset="-122"/>
                <a:cs typeface="Courier New" pitchFamily="34" charset="-120"/>
              </a:rPr>
              <a:t>/api/vendor</a:t>
            </a:r>
            <a:endParaRPr lang="en-US" sz="1200" dirty="0"/>
          </a:p>
        </p:txBody>
      </p:sp>
      <p:sp>
        <p:nvSpPr>
          <p:cNvPr id="15" name="Text 13"/>
          <p:cNvSpPr/>
          <p:nvPr/>
        </p:nvSpPr>
        <p:spPr>
          <a:xfrm>
            <a:off x="2834640" y="4297680"/>
            <a:ext cx="2926080" cy="457200"/>
          </a:xfrm>
          <a:prstGeom prst="rect">
            <a:avLst/>
          </a:prstGeom>
          <a:noFill/>
          <a:ln/>
        </p:spPr>
        <p:txBody>
          <a:bodyPr wrap="square" lIns="0" tIns="0"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resolution of assigned complaints</a:t>
            </a:r>
            <a:endParaRPr lang="en-US" sz="1050" dirty="0"/>
          </a:p>
        </p:txBody>
      </p:sp>
      <p:sp>
        <p:nvSpPr>
          <p:cNvPr id="16" name="Text 14"/>
          <p:cNvSpPr/>
          <p:nvPr/>
        </p:nvSpPr>
        <p:spPr>
          <a:xfrm>
            <a:off x="822960" y="4983480"/>
            <a:ext cx="4846320" cy="82296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HTTP status codes: 201 created · 400 validation · 401 unauthenticated · 403 forbidden · 404 not found · 409 conflict · 429 rate-limited</a:t>
            </a:r>
            <a:endParaRPr lang="en-US" sz="1000" dirty="0"/>
          </a:p>
        </p:txBody>
      </p:sp>
      <p:sp>
        <p:nvSpPr>
          <p:cNvPr id="17" name="Shape 15"/>
          <p:cNvSpPr/>
          <p:nvPr/>
        </p:nvSpPr>
        <p:spPr>
          <a:xfrm>
            <a:off x="6217920" y="1463040"/>
            <a:ext cx="5212080" cy="4663440"/>
          </a:xfrm>
          <a:prstGeom prst="roundRect">
            <a:avLst>
              <a:gd name="adj" fmla="val 1569"/>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8" name="Text 16"/>
          <p:cNvSpPr/>
          <p:nvPr/>
        </p:nvSpPr>
        <p:spPr>
          <a:xfrm>
            <a:off x="6492240" y="1645920"/>
            <a:ext cx="4663440" cy="32004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Security Controls in Place</a:t>
            </a:r>
            <a:endParaRPr lang="en-US" sz="1400" dirty="0"/>
          </a:p>
        </p:txBody>
      </p:sp>
      <p:sp>
        <p:nvSpPr>
          <p:cNvPr id="19" name="Shape 17"/>
          <p:cNvSpPr/>
          <p:nvPr/>
        </p:nvSpPr>
        <p:spPr>
          <a:xfrm>
            <a:off x="6492240" y="2167128"/>
            <a:ext cx="82296" cy="82296"/>
          </a:xfrm>
          <a:prstGeom prst="ellipse">
            <a:avLst/>
          </a:prstGeom>
          <a:solidFill>
            <a:srgbClr val="34D399"/>
          </a:solidFill>
          <a:ln/>
        </p:spPr>
      </p:sp>
      <p:sp>
        <p:nvSpPr>
          <p:cNvPr id="20" name="Text 18"/>
          <p:cNvSpPr/>
          <p:nvPr/>
        </p:nvSpPr>
        <p:spPr>
          <a:xfrm>
            <a:off x="6720840" y="2048256"/>
            <a:ext cx="4572000" cy="36576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bcrypt password hashing, cost factor 12</a:t>
            </a:r>
            <a:endParaRPr lang="en-US" sz="1100" dirty="0"/>
          </a:p>
        </p:txBody>
      </p:sp>
      <p:sp>
        <p:nvSpPr>
          <p:cNvPr id="21" name="Shape 19"/>
          <p:cNvSpPr/>
          <p:nvPr/>
        </p:nvSpPr>
        <p:spPr>
          <a:xfrm>
            <a:off x="6492240" y="2596896"/>
            <a:ext cx="82296" cy="82296"/>
          </a:xfrm>
          <a:prstGeom prst="ellipse">
            <a:avLst/>
          </a:prstGeom>
          <a:solidFill>
            <a:srgbClr val="34D399"/>
          </a:solidFill>
          <a:ln/>
        </p:spPr>
      </p:sp>
      <p:sp>
        <p:nvSpPr>
          <p:cNvPr id="22" name="Text 20"/>
          <p:cNvSpPr/>
          <p:nvPr/>
        </p:nvSpPr>
        <p:spPr>
          <a:xfrm>
            <a:off x="6720840" y="2478024"/>
            <a:ext cx="4572000" cy="36576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SHA-256 hashed OTP &amp; reset codes, 10-min expiry</a:t>
            </a:r>
            <a:endParaRPr lang="en-US" sz="1100" dirty="0"/>
          </a:p>
        </p:txBody>
      </p:sp>
      <p:sp>
        <p:nvSpPr>
          <p:cNvPr id="23" name="Shape 21"/>
          <p:cNvSpPr/>
          <p:nvPr/>
        </p:nvSpPr>
        <p:spPr>
          <a:xfrm>
            <a:off x="6492240" y="3026664"/>
            <a:ext cx="82296" cy="82296"/>
          </a:xfrm>
          <a:prstGeom prst="ellipse">
            <a:avLst/>
          </a:prstGeom>
          <a:solidFill>
            <a:srgbClr val="34D399"/>
          </a:solidFill>
          <a:ln/>
        </p:spPr>
      </p:sp>
      <p:sp>
        <p:nvSpPr>
          <p:cNvPr id="24" name="Text 22"/>
          <p:cNvSpPr/>
          <p:nvPr/>
        </p:nvSpPr>
        <p:spPr>
          <a:xfrm>
            <a:off x="6720840" y="2907792"/>
            <a:ext cx="4572000" cy="36576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HTTP-only, SameSite=Lax session cookies</a:t>
            </a:r>
            <a:endParaRPr lang="en-US" sz="1100" dirty="0"/>
          </a:p>
        </p:txBody>
      </p:sp>
      <p:sp>
        <p:nvSpPr>
          <p:cNvPr id="25" name="Shape 23"/>
          <p:cNvSpPr/>
          <p:nvPr/>
        </p:nvSpPr>
        <p:spPr>
          <a:xfrm>
            <a:off x="6492240" y="3456432"/>
            <a:ext cx="82296" cy="82296"/>
          </a:xfrm>
          <a:prstGeom prst="ellipse">
            <a:avLst/>
          </a:prstGeom>
          <a:solidFill>
            <a:srgbClr val="34D399"/>
          </a:solidFill>
          <a:ln/>
        </p:spPr>
      </p:sp>
      <p:sp>
        <p:nvSpPr>
          <p:cNvPr id="26" name="Text 24"/>
          <p:cNvSpPr/>
          <p:nvPr/>
        </p:nvSpPr>
        <p:spPr>
          <a:xfrm>
            <a:off x="6720840" y="3337560"/>
            <a:ext cx="4572000" cy="36576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Separate rate limits: 30 auth / 15 min, 8 OTP / 10 min</a:t>
            </a:r>
            <a:endParaRPr lang="en-US" sz="1100" dirty="0"/>
          </a:p>
        </p:txBody>
      </p:sp>
      <p:sp>
        <p:nvSpPr>
          <p:cNvPr id="27" name="Shape 25"/>
          <p:cNvSpPr/>
          <p:nvPr/>
        </p:nvSpPr>
        <p:spPr>
          <a:xfrm>
            <a:off x="6492240" y="3886200"/>
            <a:ext cx="82296" cy="82296"/>
          </a:xfrm>
          <a:prstGeom prst="ellipse">
            <a:avLst/>
          </a:prstGeom>
          <a:solidFill>
            <a:srgbClr val="34D399"/>
          </a:solidFill>
          <a:ln/>
        </p:spPr>
      </p:sp>
      <p:sp>
        <p:nvSpPr>
          <p:cNvPr id="28" name="Text 26"/>
          <p:cNvSpPr/>
          <p:nvPr/>
        </p:nvSpPr>
        <p:spPr>
          <a:xfrm>
            <a:off x="6720840" y="3767328"/>
            <a:ext cx="4572000" cy="36576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Server-side role middleware (requireAdmin/Vendor/User)</a:t>
            </a:r>
            <a:endParaRPr lang="en-US" sz="1100" dirty="0"/>
          </a:p>
        </p:txBody>
      </p:sp>
      <p:sp>
        <p:nvSpPr>
          <p:cNvPr id="29" name="Shape 27"/>
          <p:cNvSpPr/>
          <p:nvPr/>
        </p:nvSpPr>
        <p:spPr>
          <a:xfrm>
            <a:off x="6492240" y="4315968"/>
            <a:ext cx="82296" cy="82296"/>
          </a:xfrm>
          <a:prstGeom prst="ellipse">
            <a:avLst/>
          </a:prstGeom>
          <a:solidFill>
            <a:srgbClr val="34D399"/>
          </a:solidFill>
          <a:ln/>
        </p:spPr>
      </p:sp>
      <p:sp>
        <p:nvSpPr>
          <p:cNvPr id="30" name="Text 28"/>
          <p:cNvSpPr/>
          <p:nvPr/>
        </p:nvSpPr>
        <p:spPr>
          <a:xfrm>
            <a:off x="6720840" y="4197096"/>
            <a:ext cx="4572000" cy="36576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Parameterized SQL — no string interpolation</a:t>
            </a:r>
            <a:endParaRPr lang="en-US" sz="1100" dirty="0"/>
          </a:p>
        </p:txBody>
      </p:sp>
      <p:sp>
        <p:nvSpPr>
          <p:cNvPr id="31" name="Shape 29"/>
          <p:cNvSpPr/>
          <p:nvPr/>
        </p:nvSpPr>
        <p:spPr>
          <a:xfrm>
            <a:off x="6492240" y="4745736"/>
            <a:ext cx="82296" cy="82296"/>
          </a:xfrm>
          <a:prstGeom prst="ellipse">
            <a:avLst/>
          </a:prstGeom>
          <a:solidFill>
            <a:srgbClr val="34D399"/>
          </a:solidFill>
          <a:ln/>
        </p:spPr>
      </p:sp>
      <p:sp>
        <p:nvSpPr>
          <p:cNvPr id="32" name="Text 30"/>
          <p:cNvSpPr/>
          <p:nvPr/>
        </p:nvSpPr>
        <p:spPr>
          <a:xfrm>
            <a:off x="6720840" y="4626864"/>
            <a:ext cx="4572000" cy="365760"/>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Multer extension whitelist + 5 MB attachment limit</a:t>
            </a:r>
            <a:endParaRPr lang="en-US" sz="1100" dirty="0"/>
          </a:p>
        </p:txBody>
      </p:sp>
      <p:sp>
        <p:nvSpPr>
          <p:cNvPr id="33" name="Text 31"/>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34" name="Text 32"/>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TESTING</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Static Validation, Schema Testing &amp; Result Status</a:t>
            </a:r>
            <a:endParaRPr lang="en-US" sz="3000" dirty="0"/>
          </a:p>
        </p:txBody>
      </p:sp>
      <p:sp>
        <p:nvSpPr>
          <p:cNvPr id="4" name="Shape 2"/>
          <p:cNvSpPr/>
          <p:nvPr/>
        </p:nvSpPr>
        <p:spPr>
          <a:xfrm>
            <a:off x="548640" y="1463040"/>
            <a:ext cx="3520440" cy="1371600"/>
          </a:xfrm>
          <a:prstGeom prst="roundRect">
            <a:avLst>
              <a:gd name="adj" fmla="val 5333"/>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548640" y="1536192"/>
            <a:ext cx="3520440" cy="777240"/>
          </a:xfrm>
          <a:prstGeom prst="rect">
            <a:avLst/>
          </a:prstGeom>
          <a:noFill/>
          <a:ln/>
        </p:spPr>
        <p:txBody>
          <a:bodyPr wrap="square" lIns="0" tIns="0" rIns="0" bIns="0" rtlCol="0" anchor="ctr"/>
          <a:lstStyle/>
          <a:p>
            <a:pPr algn="ctr" indent="0" marL="0">
              <a:buNone/>
            </a:pPr>
            <a:r>
              <a:rPr lang="en-US" sz="4200" b="1" dirty="0">
                <a:solidFill>
                  <a:srgbClr val="34D399"/>
                </a:solidFill>
                <a:latin typeface="Cambria" pitchFamily="34" charset="0"/>
                <a:ea typeface="Cambria" pitchFamily="34" charset="-122"/>
                <a:cs typeface="Cambria" pitchFamily="34" charset="-120"/>
              </a:rPr>
              <a:t>10</a:t>
            </a:r>
            <a:endParaRPr lang="en-US" sz="4200" dirty="0"/>
          </a:p>
        </p:txBody>
      </p:sp>
      <p:sp>
        <p:nvSpPr>
          <p:cNvPr id="6" name="Text 4"/>
          <p:cNvSpPr/>
          <p:nvPr/>
        </p:nvSpPr>
        <p:spPr>
          <a:xfrm>
            <a:off x="548640" y="2286000"/>
            <a:ext cx="3520440" cy="457200"/>
          </a:xfrm>
          <a:prstGeom prst="rect">
            <a:avLst/>
          </a:prstGeom>
          <a:noFill/>
          <a:ln/>
        </p:spPr>
        <p:txBody>
          <a:bodyPr wrap="square" lIns="0" tIns="0" rIns="0" bIns="0" rtlCol="0" anchor="ctr"/>
          <a:lstStyle/>
          <a:p>
            <a:pPr algn="ctr" indent="0" marL="0">
              <a:buNone/>
            </a:pPr>
            <a:r>
              <a:rPr lang="en-US" sz="1150" dirty="0">
                <a:solidFill>
                  <a:srgbClr val="94A3B8"/>
                </a:solidFill>
                <a:latin typeface="Calibri" pitchFamily="34" charset="0"/>
                <a:ea typeface="Calibri" pitchFamily="34" charset="-122"/>
                <a:cs typeface="Calibri" pitchFamily="34" charset="-120"/>
              </a:rPr>
              <a:t>Test cases PASSED</a:t>
            </a:r>
            <a:endParaRPr lang="en-US" sz="1150" dirty="0"/>
          </a:p>
        </p:txBody>
      </p:sp>
      <p:sp>
        <p:nvSpPr>
          <p:cNvPr id="7" name="Shape 5"/>
          <p:cNvSpPr/>
          <p:nvPr/>
        </p:nvSpPr>
        <p:spPr>
          <a:xfrm>
            <a:off x="4251960" y="1463040"/>
            <a:ext cx="3520440" cy="1371600"/>
          </a:xfrm>
          <a:prstGeom prst="roundRect">
            <a:avLst>
              <a:gd name="adj" fmla="val 5333"/>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4251960" y="1536192"/>
            <a:ext cx="3520440" cy="777240"/>
          </a:xfrm>
          <a:prstGeom prst="rect">
            <a:avLst/>
          </a:prstGeom>
          <a:noFill/>
          <a:ln/>
        </p:spPr>
        <p:txBody>
          <a:bodyPr wrap="square" lIns="0" tIns="0" rIns="0" bIns="0" rtlCol="0" anchor="ctr"/>
          <a:lstStyle/>
          <a:p>
            <a:pPr algn="ctr" indent="0" marL="0">
              <a:buNone/>
            </a:pPr>
            <a:r>
              <a:rPr lang="en-US" sz="4200" b="1" dirty="0">
                <a:solidFill>
                  <a:srgbClr val="F0B429"/>
                </a:solidFill>
                <a:latin typeface="Cambria" pitchFamily="34" charset="0"/>
                <a:ea typeface="Cambria" pitchFamily="34" charset="-122"/>
                <a:cs typeface="Cambria" pitchFamily="34" charset="-120"/>
              </a:rPr>
              <a:t>2</a:t>
            </a:r>
            <a:endParaRPr lang="en-US" sz="4200" dirty="0"/>
          </a:p>
        </p:txBody>
      </p:sp>
      <p:sp>
        <p:nvSpPr>
          <p:cNvPr id="9" name="Text 7"/>
          <p:cNvSpPr/>
          <p:nvPr/>
        </p:nvSpPr>
        <p:spPr>
          <a:xfrm>
            <a:off x="4251960" y="2286000"/>
            <a:ext cx="3520440" cy="457200"/>
          </a:xfrm>
          <a:prstGeom prst="rect">
            <a:avLst/>
          </a:prstGeom>
          <a:noFill/>
          <a:ln/>
        </p:spPr>
        <p:txBody>
          <a:bodyPr wrap="square" lIns="0" tIns="0" rIns="0" bIns="0" rtlCol="0" anchor="ctr"/>
          <a:lstStyle/>
          <a:p>
            <a:pPr algn="ctr" indent="0" marL="0">
              <a:buNone/>
            </a:pPr>
            <a:r>
              <a:rPr lang="en-US" sz="1150" dirty="0">
                <a:solidFill>
                  <a:srgbClr val="94A3B8"/>
                </a:solidFill>
                <a:latin typeface="Calibri" pitchFamily="34" charset="0"/>
                <a:ea typeface="Calibri" pitchFamily="34" charset="-122"/>
                <a:cs typeface="Calibri" pitchFamily="34" charset="-120"/>
              </a:rPr>
              <a:t>BLOCKED by environment</a:t>
            </a:r>
            <a:endParaRPr lang="en-US" sz="1150" dirty="0"/>
          </a:p>
        </p:txBody>
      </p:sp>
      <p:sp>
        <p:nvSpPr>
          <p:cNvPr id="10" name="Shape 8"/>
          <p:cNvSpPr/>
          <p:nvPr/>
        </p:nvSpPr>
        <p:spPr>
          <a:xfrm>
            <a:off x="7955280" y="1463040"/>
            <a:ext cx="3520440" cy="1371600"/>
          </a:xfrm>
          <a:prstGeom prst="roundRect">
            <a:avLst>
              <a:gd name="adj" fmla="val 5333"/>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7955280" y="1536192"/>
            <a:ext cx="3520440" cy="777240"/>
          </a:xfrm>
          <a:prstGeom prst="rect">
            <a:avLst/>
          </a:prstGeom>
          <a:noFill/>
          <a:ln/>
        </p:spPr>
        <p:txBody>
          <a:bodyPr wrap="square" lIns="0" tIns="0" rIns="0" bIns="0" rtlCol="0" anchor="ctr"/>
          <a:lstStyle/>
          <a:p>
            <a:pPr algn="ctr" indent="0" marL="0">
              <a:buNone/>
            </a:pPr>
            <a:r>
              <a:rPr lang="en-US" sz="4200" b="1" dirty="0">
                <a:solidFill>
                  <a:srgbClr val="2DD4BF"/>
                </a:solidFill>
                <a:latin typeface="Cambria" pitchFamily="34" charset="0"/>
                <a:ea typeface="Cambria" pitchFamily="34" charset="-122"/>
                <a:cs typeface="Cambria" pitchFamily="34" charset="-120"/>
              </a:rPr>
              <a:t>0</a:t>
            </a:r>
            <a:endParaRPr lang="en-US" sz="4200" dirty="0"/>
          </a:p>
        </p:txBody>
      </p:sp>
      <p:sp>
        <p:nvSpPr>
          <p:cNvPr id="12" name="Text 10"/>
          <p:cNvSpPr/>
          <p:nvPr/>
        </p:nvSpPr>
        <p:spPr>
          <a:xfrm>
            <a:off x="7955280" y="2286000"/>
            <a:ext cx="3520440" cy="457200"/>
          </a:xfrm>
          <a:prstGeom prst="rect">
            <a:avLst/>
          </a:prstGeom>
          <a:noFill/>
          <a:ln/>
        </p:spPr>
        <p:txBody>
          <a:bodyPr wrap="square" lIns="0" tIns="0" rIns="0" bIns="0" rtlCol="0" anchor="ctr"/>
          <a:lstStyle/>
          <a:p>
            <a:pPr algn="ctr" indent="0" marL="0">
              <a:buNone/>
            </a:pPr>
            <a:r>
              <a:rPr lang="en-US" sz="1150" dirty="0">
                <a:solidFill>
                  <a:srgbClr val="94A3B8"/>
                </a:solidFill>
                <a:latin typeface="Calibri" pitchFamily="34" charset="0"/>
                <a:ea typeface="Calibri" pitchFamily="34" charset="-122"/>
                <a:cs typeface="Calibri" pitchFamily="34" charset="-120"/>
              </a:rPr>
              <a:t>Syntax errors in server.js</a:t>
            </a:r>
            <a:endParaRPr lang="en-US" sz="1150" dirty="0"/>
          </a:p>
        </p:txBody>
      </p:sp>
      <p:sp>
        <p:nvSpPr>
          <p:cNvPr id="13" name="Text 11"/>
          <p:cNvSpPr/>
          <p:nvPr/>
        </p:nvSpPr>
        <p:spPr>
          <a:xfrm>
            <a:off x="548640" y="3108960"/>
            <a:ext cx="8046720" cy="384048"/>
          </a:xfrm>
          <a:prstGeom prst="rect">
            <a:avLst/>
          </a:prstGeom>
          <a:noFill/>
          <a:ln/>
        </p:spPr>
        <p:txBody>
          <a:bodyPr wrap="square" lIns="0" tIns="1524" rIns="0" bIns="0"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Test</a:t>
            </a:r>
            <a:endParaRPr lang="en-US" sz="1150" dirty="0"/>
          </a:p>
        </p:txBody>
      </p:sp>
      <p:sp>
        <p:nvSpPr>
          <p:cNvPr id="14" name="Text 12"/>
          <p:cNvSpPr/>
          <p:nvPr/>
        </p:nvSpPr>
        <p:spPr>
          <a:xfrm>
            <a:off x="8595360" y="3108960"/>
            <a:ext cx="2834640" cy="384048"/>
          </a:xfrm>
          <a:prstGeom prst="rect">
            <a:avLst/>
          </a:prstGeom>
          <a:noFill/>
          <a:ln/>
        </p:spPr>
        <p:txBody>
          <a:bodyPr wrap="square" lIns="0" tIns="1524" rIns="0" bIns="0" rtlCol="0" anchor="ctr"/>
          <a:lstStyle/>
          <a:p>
            <a:pPr indent="0" marL="0">
              <a:buNone/>
            </a:pPr>
            <a:r>
              <a:rPr lang="en-US" sz="1150" dirty="0">
                <a:solidFill>
                  <a:srgbClr val="2DD4BF"/>
                </a:solidFill>
                <a:latin typeface="Calibri" pitchFamily="34" charset="0"/>
                <a:ea typeface="Calibri" pitchFamily="34" charset="-122"/>
                <a:cs typeface="Calibri" pitchFamily="34" charset="-120"/>
              </a:rPr>
              <a:t>Result</a:t>
            </a:r>
            <a:endParaRPr lang="en-US" sz="1150" dirty="0"/>
          </a:p>
        </p:txBody>
      </p:sp>
      <p:sp>
        <p:nvSpPr>
          <p:cNvPr id="15" name="Text 13"/>
          <p:cNvSpPr/>
          <p:nvPr/>
        </p:nvSpPr>
        <p:spPr>
          <a:xfrm>
            <a:off x="548640" y="3493008"/>
            <a:ext cx="8046720" cy="384048"/>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JavaScript syntax validation (node --check)</a:t>
            </a:r>
            <a:endParaRPr lang="en-US" sz="1050" dirty="0"/>
          </a:p>
        </p:txBody>
      </p:sp>
      <p:sp>
        <p:nvSpPr>
          <p:cNvPr id="16" name="Text 14"/>
          <p:cNvSpPr/>
          <p:nvPr/>
        </p:nvSpPr>
        <p:spPr>
          <a:xfrm>
            <a:off x="8595360" y="3493008"/>
            <a:ext cx="2834640" cy="384048"/>
          </a:xfrm>
          <a:prstGeom prst="rect">
            <a:avLst/>
          </a:prstGeom>
          <a:noFill/>
          <a:ln/>
        </p:spPr>
        <p:txBody>
          <a:bodyPr wrap="square" lIns="0" tIns="1524"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PASS</a:t>
            </a:r>
            <a:endParaRPr lang="en-US" sz="1050" dirty="0"/>
          </a:p>
        </p:txBody>
      </p:sp>
      <p:sp>
        <p:nvSpPr>
          <p:cNvPr id="17" name="Shape 15"/>
          <p:cNvSpPr/>
          <p:nvPr/>
        </p:nvSpPr>
        <p:spPr>
          <a:xfrm>
            <a:off x="548640" y="3877056"/>
            <a:ext cx="10881360" cy="384048"/>
          </a:xfrm>
          <a:prstGeom prst="rect">
            <a:avLst/>
          </a:prstGeom>
          <a:solidFill>
            <a:srgbClr val="18202F"/>
          </a:solidFill>
          <a:ln/>
        </p:spPr>
      </p:sp>
      <p:sp>
        <p:nvSpPr>
          <p:cNvPr id="18" name="Text 16"/>
          <p:cNvSpPr/>
          <p:nvPr/>
        </p:nvSpPr>
        <p:spPr>
          <a:xfrm>
            <a:off x="548640" y="3877056"/>
            <a:ext cx="8046720" cy="384048"/>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SQLite schema creation — 5 tables, 2 indexes</a:t>
            </a:r>
            <a:endParaRPr lang="en-US" sz="1050" dirty="0"/>
          </a:p>
        </p:txBody>
      </p:sp>
      <p:sp>
        <p:nvSpPr>
          <p:cNvPr id="19" name="Text 17"/>
          <p:cNvSpPr/>
          <p:nvPr/>
        </p:nvSpPr>
        <p:spPr>
          <a:xfrm>
            <a:off x="8595360" y="3877056"/>
            <a:ext cx="2834640" cy="384048"/>
          </a:xfrm>
          <a:prstGeom prst="rect">
            <a:avLst/>
          </a:prstGeom>
          <a:noFill/>
          <a:ln/>
        </p:spPr>
        <p:txBody>
          <a:bodyPr wrap="square" lIns="0" tIns="1524"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PASS</a:t>
            </a:r>
            <a:endParaRPr lang="en-US" sz="1050" dirty="0"/>
          </a:p>
        </p:txBody>
      </p:sp>
      <p:sp>
        <p:nvSpPr>
          <p:cNvPr id="20" name="Text 18"/>
          <p:cNvSpPr/>
          <p:nvPr/>
        </p:nvSpPr>
        <p:spPr>
          <a:xfrm>
            <a:off x="548640" y="4261104"/>
            <a:ext cx="8046720" cy="384048"/>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Case-insensitive unique email constraint</a:t>
            </a:r>
            <a:endParaRPr lang="en-US" sz="1050" dirty="0"/>
          </a:p>
        </p:txBody>
      </p:sp>
      <p:sp>
        <p:nvSpPr>
          <p:cNvPr id="21" name="Text 19"/>
          <p:cNvSpPr/>
          <p:nvPr/>
        </p:nvSpPr>
        <p:spPr>
          <a:xfrm>
            <a:off x="8595360" y="4261104"/>
            <a:ext cx="2834640" cy="384048"/>
          </a:xfrm>
          <a:prstGeom prst="rect">
            <a:avLst/>
          </a:prstGeom>
          <a:noFill/>
          <a:ln/>
        </p:spPr>
        <p:txBody>
          <a:bodyPr wrap="square" lIns="0" tIns="1524"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PASS</a:t>
            </a:r>
            <a:endParaRPr lang="en-US" sz="1050" dirty="0"/>
          </a:p>
        </p:txBody>
      </p:sp>
      <p:sp>
        <p:nvSpPr>
          <p:cNvPr id="22" name="Shape 20"/>
          <p:cNvSpPr/>
          <p:nvPr/>
        </p:nvSpPr>
        <p:spPr>
          <a:xfrm>
            <a:off x="548640" y="4645152"/>
            <a:ext cx="10881360" cy="384048"/>
          </a:xfrm>
          <a:prstGeom prst="rect">
            <a:avLst/>
          </a:prstGeom>
          <a:solidFill>
            <a:srgbClr val="18202F"/>
          </a:solidFill>
          <a:ln/>
        </p:spPr>
      </p:sp>
      <p:sp>
        <p:nvSpPr>
          <p:cNvPr id="23" name="Text 21"/>
          <p:cNvSpPr/>
          <p:nvPr/>
        </p:nvSpPr>
        <p:spPr>
          <a:xfrm>
            <a:off x="548640" y="4645152"/>
            <a:ext cx="8046720" cy="384048"/>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CHECK constraints (user_type, status)</a:t>
            </a:r>
            <a:endParaRPr lang="en-US" sz="1050" dirty="0"/>
          </a:p>
        </p:txBody>
      </p:sp>
      <p:sp>
        <p:nvSpPr>
          <p:cNvPr id="24" name="Text 22"/>
          <p:cNvSpPr/>
          <p:nvPr/>
        </p:nvSpPr>
        <p:spPr>
          <a:xfrm>
            <a:off x="8595360" y="4645152"/>
            <a:ext cx="2834640" cy="384048"/>
          </a:xfrm>
          <a:prstGeom prst="rect">
            <a:avLst/>
          </a:prstGeom>
          <a:noFill/>
          <a:ln/>
        </p:spPr>
        <p:txBody>
          <a:bodyPr wrap="square" lIns="0" tIns="1524"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PASS</a:t>
            </a:r>
            <a:endParaRPr lang="en-US" sz="1050" dirty="0"/>
          </a:p>
        </p:txBody>
      </p:sp>
      <p:sp>
        <p:nvSpPr>
          <p:cNvPr id="25" name="Text 23"/>
          <p:cNvSpPr/>
          <p:nvPr/>
        </p:nvSpPr>
        <p:spPr>
          <a:xfrm>
            <a:off x="548640" y="5029200"/>
            <a:ext cx="8046720" cy="384048"/>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Foreign-key cascade delete</a:t>
            </a:r>
            <a:endParaRPr lang="en-US" sz="1050" dirty="0"/>
          </a:p>
        </p:txBody>
      </p:sp>
      <p:sp>
        <p:nvSpPr>
          <p:cNvPr id="26" name="Text 24"/>
          <p:cNvSpPr/>
          <p:nvPr/>
        </p:nvSpPr>
        <p:spPr>
          <a:xfrm>
            <a:off x="8595360" y="5029200"/>
            <a:ext cx="2834640" cy="384048"/>
          </a:xfrm>
          <a:prstGeom prst="rect">
            <a:avLst/>
          </a:prstGeom>
          <a:noFill/>
          <a:ln/>
        </p:spPr>
        <p:txBody>
          <a:bodyPr wrap="square" lIns="0" tIns="1524"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PASS</a:t>
            </a:r>
            <a:endParaRPr lang="en-US" sz="1050" dirty="0"/>
          </a:p>
        </p:txBody>
      </p:sp>
      <p:sp>
        <p:nvSpPr>
          <p:cNvPr id="27" name="Shape 25"/>
          <p:cNvSpPr/>
          <p:nvPr/>
        </p:nvSpPr>
        <p:spPr>
          <a:xfrm>
            <a:off x="548640" y="5413248"/>
            <a:ext cx="10881360" cy="384048"/>
          </a:xfrm>
          <a:prstGeom prst="rect">
            <a:avLst/>
          </a:prstGeom>
          <a:solidFill>
            <a:srgbClr val="18202F"/>
          </a:solidFill>
          <a:ln/>
        </p:spPr>
      </p:sp>
      <p:sp>
        <p:nvSpPr>
          <p:cNvPr id="28" name="Text 26"/>
          <p:cNvSpPr/>
          <p:nvPr/>
        </p:nvSpPr>
        <p:spPr>
          <a:xfrm>
            <a:off x="548640" y="5413248"/>
            <a:ext cx="8046720" cy="384048"/>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Frontend artifact availability</a:t>
            </a:r>
            <a:endParaRPr lang="en-US" sz="1050" dirty="0"/>
          </a:p>
        </p:txBody>
      </p:sp>
      <p:sp>
        <p:nvSpPr>
          <p:cNvPr id="29" name="Text 27"/>
          <p:cNvSpPr/>
          <p:nvPr/>
        </p:nvSpPr>
        <p:spPr>
          <a:xfrm>
            <a:off x="8595360" y="5413248"/>
            <a:ext cx="2834640" cy="384048"/>
          </a:xfrm>
          <a:prstGeom prst="rect">
            <a:avLst/>
          </a:prstGeom>
          <a:noFill/>
          <a:ln/>
        </p:spPr>
        <p:txBody>
          <a:bodyPr wrap="square" lIns="0" tIns="1524" rIns="0" bIns="0" rtlCol="0" anchor="ctr"/>
          <a:lstStyle/>
          <a:p>
            <a:pPr indent="0" marL="0">
              <a:buNone/>
            </a:pPr>
            <a:r>
              <a:rPr lang="en-US" sz="1050" b="1" dirty="0">
                <a:solidFill>
                  <a:srgbClr val="F0B429"/>
                </a:solidFill>
                <a:latin typeface="Calibri" pitchFamily="34" charset="0"/>
                <a:ea typeface="Calibri" pitchFamily="34" charset="-122"/>
                <a:cs typeface="Calibri" pitchFamily="34" charset="-120"/>
              </a:rPr>
              <a:t>BLOCKED</a:t>
            </a:r>
            <a:endParaRPr lang="en-US" sz="1050" dirty="0"/>
          </a:p>
        </p:txBody>
      </p:sp>
      <p:sp>
        <p:nvSpPr>
          <p:cNvPr id="30" name="Text 28"/>
          <p:cNvSpPr/>
          <p:nvPr/>
        </p:nvSpPr>
        <p:spPr>
          <a:xfrm>
            <a:off x="548640" y="5797296"/>
            <a:ext cx="8046720" cy="384048"/>
          </a:xfrm>
          <a:prstGeom prst="rect">
            <a:avLst/>
          </a:prstGeom>
          <a:noFill/>
          <a:ln/>
        </p:spPr>
        <p:txBody>
          <a:bodyPr wrap="square" lIns="0" tIns="1524" rIns="0" bIns="0" rtlCol="0" anchor="ctr"/>
          <a:lstStyle/>
          <a:p>
            <a:pPr indent="0" marL="0">
              <a:buNone/>
            </a:pPr>
            <a:r>
              <a:rPr lang="en-US" sz="1050" dirty="0">
                <a:solidFill>
                  <a:srgbClr val="F5F7FA"/>
                </a:solidFill>
                <a:latin typeface="Calibri" pitchFamily="34" charset="0"/>
                <a:ea typeface="Calibri" pitchFamily="34" charset="-122"/>
                <a:cs typeface="Calibri" pitchFamily="34" charset="-120"/>
              </a:rPr>
              <a:t>Dependency installation (npm ci)</a:t>
            </a:r>
            <a:endParaRPr lang="en-US" sz="1050" dirty="0"/>
          </a:p>
        </p:txBody>
      </p:sp>
      <p:sp>
        <p:nvSpPr>
          <p:cNvPr id="31" name="Text 29"/>
          <p:cNvSpPr/>
          <p:nvPr/>
        </p:nvSpPr>
        <p:spPr>
          <a:xfrm>
            <a:off x="8595360" y="5797296"/>
            <a:ext cx="2834640" cy="384048"/>
          </a:xfrm>
          <a:prstGeom prst="rect">
            <a:avLst/>
          </a:prstGeom>
          <a:noFill/>
          <a:ln/>
        </p:spPr>
        <p:txBody>
          <a:bodyPr wrap="square" lIns="0" tIns="1524" rIns="0" bIns="0" rtlCol="0" anchor="ctr"/>
          <a:lstStyle/>
          <a:p>
            <a:pPr indent="0" marL="0">
              <a:buNone/>
            </a:pPr>
            <a:r>
              <a:rPr lang="en-US" sz="1050" b="1" dirty="0">
                <a:solidFill>
                  <a:srgbClr val="F0B429"/>
                </a:solidFill>
                <a:latin typeface="Calibri" pitchFamily="34" charset="0"/>
                <a:ea typeface="Calibri" pitchFamily="34" charset="-122"/>
                <a:cs typeface="Calibri" pitchFamily="34" charset="-120"/>
              </a:rPr>
              <a:t>BLOCKED — registry HTTP 503</a:t>
            </a:r>
            <a:endParaRPr lang="en-US" sz="1050" dirty="0"/>
          </a:p>
        </p:txBody>
      </p:sp>
      <p:sp>
        <p:nvSpPr>
          <p:cNvPr id="32" name="Shape 30"/>
          <p:cNvSpPr/>
          <p:nvPr/>
        </p:nvSpPr>
        <p:spPr>
          <a:xfrm>
            <a:off x="548640" y="3474720"/>
            <a:ext cx="10881360" cy="0"/>
          </a:xfrm>
          <a:prstGeom prst="line">
            <a:avLst/>
          </a:prstGeom>
          <a:noFill/>
          <a:ln w="19050">
            <a:solidFill>
              <a:srgbClr val="2DD4BF"/>
            </a:solidFill>
            <a:prstDash val="solid"/>
          </a:ln>
        </p:spPr>
      </p:sp>
      <p:sp>
        <p:nvSpPr>
          <p:cNvPr id="33" name="Text 31"/>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34" name="Text 32"/>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Verified Achievements</a:t>
            </a:r>
            <a:endParaRPr lang="en-US" sz="3000" dirty="0"/>
          </a:p>
        </p:txBody>
      </p:sp>
      <p:sp>
        <p:nvSpPr>
          <p:cNvPr id="4" name="Shape 2"/>
          <p:cNvSpPr/>
          <p:nvPr/>
        </p:nvSpPr>
        <p:spPr>
          <a:xfrm>
            <a:off x="548640" y="1463040"/>
            <a:ext cx="6309360" cy="4663440"/>
          </a:xfrm>
          <a:prstGeom prst="roundRect">
            <a:avLst>
              <a:gd name="adj" fmla="val 1569"/>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822960" y="1645920"/>
            <a:ext cx="5760720" cy="32004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What Was Delivered</a:t>
            </a:r>
            <a:endParaRPr lang="en-US" sz="1400" dirty="0"/>
          </a:p>
        </p:txBody>
      </p:sp>
      <p:sp>
        <p:nvSpPr>
          <p:cNvPr id="6" name="Shape 4"/>
          <p:cNvSpPr/>
          <p:nvPr/>
        </p:nvSpPr>
        <p:spPr>
          <a:xfrm>
            <a:off x="822960" y="2167128"/>
            <a:ext cx="91440" cy="91440"/>
          </a:xfrm>
          <a:prstGeom prst="ellipse">
            <a:avLst/>
          </a:prstGeom>
          <a:solidFill>
            <a:srgbClr val="34D399"/>
          </a:solidFill>
          <a:ln/>
        </p:spPr>
      </p:sp>
      <p:sp>
        <p:nvSpPr>
          <p:cNvPr id="7" name="Text 5"/>
          <p:cNvSpPr/>
          <p:nvPr/>
        </p:nvSpPr>
        <p:spPr>
          <a:xfrm>
            <a:off x="1069848" y="2039112"/>
            <a:ext cx="5577840" cy="411480"/>
          </a:xfrm>
          <a:prstGeom prst="rect">
            <a:avLst/>
          </a:prstGeom>
          <a:noFill/>
          <a:ln/>
        </p:spPr>
        <p:txBody>
          <a:bodyPr wrap="square" lIns="0" tIns="0" rIns="0" bIns="0" rtlCol="0" anchor="ctr"/>
          <a:lstStyle/>
          <a:p>
            <a:pPr indent="0" marL="0">
              <a:buNone/>
            </a:pPr>
            <a:r>
              <a:rPr lang="en-US" sz="1200" dirty="0">
                <a:solidFill>
                  <a:srgbClr val="F5F7FA"/>
                </a:solidFill>
                <a:latin typeface="Calibri" pitchFamily="34" charset="0"/>
                <a:ea typeface="Calibri" pitchFamily="34" charset="-122"/>
                <a:cs typeface="Calibri" pitchFamily="34" charset="-120"/>
              </a:rPr>
              <a:t>Clear three-persona workflow with server-side enforcement</a:t>
            </a:r>
            <a:endParaRPr lang="en-US" sz="1200" dirty="0"/>
          </a:p>
        </p:txBody>
      </p:sp>
      <p:sp>
        <p:nvSpPr>
          <p:cNvPr id="8" name="Shape 6"/>
          <p:cNvSpPr/>
          <p:nvPr/>
        </p:nvSpPr>
        <p:spPr>
          <a:xfrm>
            <a:off x="822960" y="2715768"/>
            <a:ext cx="91440" cy="91440"/>
          </a:xfrm>
          <a:prstGeom prst="ellipse">
            <a:avLst/>
          </a:prstGeom>
          <a:solidFill>
            <a:srgbClr val="34D399"/>
          </a:solidFill>
          <a:ln/>
        </p:spPr>
      </p:sp>
      <p:sp>
        <p:nvSpPr>
          <p:cNvPr id="9" name="Text 7"/>
          <p:cNvSpPr/>
          <p:nvPr/>
        </p:nvSpPr>
        <p:spPr>
          <a:xfrm>
            <a:off x="1069848" y="2587752"/>
            <a:ext cx="5577840" cy="411480"/>
          </a:xfrm>
          <a:prstGeom prst="rect">
            <a:avLst/>
          </a:prstGeom>
          <a:noFill/>
          <a:ln/>
        </p:spPr>
        <p:txBody>
          <a:bodyPr wrap="square" lIns="0" tIns="0" rIns="0" bIns="0" rtlCol="0" anchor="ctr"/>
          <a:lstStyle/>
          <a:p>
            <a:pPr indent="0" marL="0">
              <a:buNone/>
            </a:pPr>
            <a:r>
              <a:rPr lang="en-US" sz="1200" dirty="0">
                <a:solidFill>
                  <a:srgbClr val="F5F7FA"/>
                </a:solidFill>
                <a:latin typeface="Calibri" pitchFamily="34" charset="0"/>
                <a:ea typeface="Calibri" pitchFamily="34" charset="-122"/>
                <a:cs typeface="Calibri" pitchFamily="34" charset="-120"/>
              </a:rPr>
              <a:t>Normalized relational schema with correct cascade behavior</a:t>
            </a:r>
            <a:endParaRPr lang="en-US" sz="1200" dirty="0"/>
          </a:p>
        </p:txBody>
      </p:sp>
      <p:sp>
        <p:nvSpPr>
          <p:cNvPr id="10" name="Shape 8"/>
          <p:cNvSpPr/>
          <p:nvPr/>
        </p:nvSpPr>
        <p:spPr>
          <a:xfrm>
            <a:off x="822960" y="3264408"/>
            <a:ext cx="91440" cy="91440"/>
          </a:xfrm>
          <a:prstGeom prst="ellipse">
            <a:avLst/>
          </a:prstGeom>
          <a:solidFill>
            <a:srgbClr val="34D399"/>
          </a:solidFill>
          <a:ln/>
        </p:spPr>
      </p:sp>
      <p:sp>
        <p:nvSpPr>
          <p:cNvPr id="11" name="Text 9"/>
          <p:cNvSpPr/>
          <p:nvPr/>
        </p:nvSpPr>
        <p:spPr>
          <a:xfrm>
            <a:off x="1069848" y="3136392"/>
            <a:ext cx="5577840" cy="411480"/>
          </a:xfrm>
          <a:prstGeom prst="rect">
            <a:avLst/>
          </a:prstGeom>
          <a:noFill/>
          <a:ln/>
        </p:spPr>
        <p:txBody>
          <a:bodyPr wrap="square" lIns="0" tIns="0" rIns="0" bIns="0" rtlCol="0" anchor="ctr"/>
          <a:lstStyle/>
          <a:p>
            <a:pPr indent="0" marL="0">
              <a:buNone/>
            </a:pPr>
            <a:r>
              <a:rPr lang="en-US" sz="1200" dirty="0">
                <a:solidFill>
                  <a:srgbClr val="F5F7FA"/>
                </a:solidFill>
                <a:latin typeface="Calibri" pitchFamily="34" charset="0"/>
                <a:ea typeface="Calibri" pitchFamily="34" charset="-122"/>
                <a:cs typeface="Calibri" pitchFamily="34" charset="-120"/>
              </a:rPr>
              <a:t>Product Issue category derived from session — not client input</a:t>
            </a:r>
            <a:endParaRPr lang="en-US" sz="1200" dirty="0"/>
          </a:p>
        </p:txBody>
      </p:sp>
      <p:sp>
        <p:nvSpPr>
          <p:cNvPr id="12" name="Shape 10"/>
          <p:cNvSpPr/>
          <p:nvPr/>
        </p:nvSpPr>
        <p:spPr>
          <a:xfrm>
            <a:off x="822960" y="3813048"/>
            <a:ext cx="91440" cy="91440"/>
          </a:xfrm>
          <a:prstGeom prst="ellipse">
            <a:avLst/>
          </a:prstGeom>
          <a:solidFill>
            <a:srgbClr val="34D399"/>
          </a:solidFill>
          <a:ln/>
        </p:spPr>
      </p:sp>
      <p:sp>
        <p:nvSpPr>
          <p:cNvPr id="13" name="Text 11"/>
          <p:cNvSpPr/>
          <p:nvPr/>
        </p:nvSpPr>
        <p:spPr>
          <a:xfrm>
            <a:off x="1069848" y="3685032"/>
            <a:ext cx="5577840" cy="411480"/>
          </a:xfrm>
          <a:prstGeom prst="rect">
            <a:avLst/>
          </a:prstGeom>
          <a:noFill/>
          <a:ln/>
        </p:spPr>
        <p:txBody>
          <a:bodyPr wrap="square" lIns="0" tIns="0" rIns="0" bIns="0" rtlCol="0" anchor="ctr"/>
          <a:lstStyle/>
          <a:p>
            <a:pPr indent="0" marL="0">
              <a:buNone/>
            </a:pPr>
            <a:r>
              <a:rPr lang="en-US" sz="1200" dirty="0">
                <a:solidFill>
                  <a:srgbClr val="F5F7FA"/>
                </a:solidFill>
                <a:latin typeface="Calibri" pitchFamily="34" charset="0"/>
                <a:ea typeface="Calibri" pitchFamily="34" charset="-122"/>
                <a:cs typeface="Calibri" pitchFamily="34" charset="-120"/>
              </a:rPr>
              <a:t>Hashed passwords and hashed one-time codes throughout</a:t>
            </a:r>
            <a:endParaRPr lang="en-US" sz="1200" dirty="0"/>
          </a:p>
        </p:txBody>
      </p:sp>
      <p:sp>
        <p:nvSpPr>
          <p:cNvPr id="14" name="Shape 12"/>
          <p:cNvSpPr/>
          <p:nvPr/>
        </p:nvSpPr>
        <p:spPr>
          <a:xfrm>
            <a:off x="822960" y="4361688"/>
            <a:ext cx="91440" cy="91440"/>
          </a:xfrm>
          <a:prstGeom prst="ellipse">
            <a:avLst/>
          </a:prstGeom>
          <a:solidFill>
            <a:srgbClr val="34D399"/>
          </a:solidFill>
          <a:ln/>
        </p:spPr>
      </p:sp>
      <p:sp>
        <p:nvSpPr>
          <p:cNvPr id="15" name="Text 13"/>
          <p:cNvSpPr/>
          <p:nvPr/>
        </p:nvSpPr>
        <p:spPr>
          <a:xfrm>
            <a:off x="1069848" y="4233672"/>
            <a:ext cx="5577840" cy="411480"/>
          </a:xfrm>
          <a:prstGeom prst="rect">
            <a:avLst/>
          </a:prstGeom>
          <a:noFill/>
          <a:ln/>
        </p:spPr>
        <p:txBody>
          <a:bodyPr wrap="square" lIns="0" tIns="0" rIns="0" bIns="0" rtlCol="0" anchor="ctr"/>
          <a:lstStyle/>
          <a:p>
            <a:pPr indent="0" marL="0">
              <a:buNone/>
            </a:pPr>
            <a:r>
              <a:rPr lang="en-US" sz="1200" dirty="0">
                <a:solidFill>
                  <a:srgbClr val="F5F7FA"/>
                </a:solidFill>
                <a:latin typeface="Calibri" pitchFamily="34" charset="0"/>
                <a:ea typeface="Calibri" pitchFamily="34" charset="-122"/>
                <a:cs typeface="Calibri" pitchFamily="34" charset="-120"/>
              </a:rPr>
              <a:t>Migration logic preserves data from earlier schema versions</a:t>
            </a:r>
            <a:endParaRPr lang="en-US" sz="1200" dirty="0"/>
          </a:p>
        </p:txBody>
      </p:sp>
      <p:sp>
        <p:nvSpPr>
          <p:cNvPr id="16" name="Shape 14"/>
          <p:cNvSpPr/>
          <p:nvPr/>
        </p:nvSpPr>
        <p:spPr>
          <a:xfrm>
            <a:off x="822960" y="4910328"/>
            <a:ext cx="91440" cy="91440"/>
          </a:xfrm>
          <a:prstGeom prst="ellipse">
            <a:avLst/>
          </a:prstGeom>
          <a:solidFill>
            <a:srgbClr val="34D399"/>
          </a:solidFill>
          <a:ln/>
        </p:spPr>
      </p:sp>
      <p:sp>
        <p:nvSpPr>
          <p:cNvPr id="17" name="Text 15"/>
          <p:cNvSpPr/>
          <p:nvPr/>
        </p:nvSpPr>
        <p:spPr>
          <a:xfrm>
            <a:off x="1069848" y="4782312"/>
            <a:ext cx="5577840" cy="411480"/>
          </a:xfrm>
          <a:prstGeom prst="rect">
            <a:avLst/>
          </a:prstGeom>
          <a:noFill/>
          <a:ln/>
        </p:spPr>
        <p:txBody>
          <a:bodyPr wrap="square" lIns="0" tIns="0" rIns="0" bIns="0" rtlCol="0" anchor="ctr"/>
          <a:lstStyle/>
          <a:p>
            <a:pPr indent="0" marL="0">
              <a:buNone/>
            </a:pPr>
            <a:r>
              <a:rPr lang="en-US" sz="1200" dirty="0">
                <a:solidFill>
                  <a:srgbClr val="F5F7FA"/>
                </a:solidFill>
                <a:latin typeface="Calibri" pitchFamily="34" charset="0"/>
                <a:ea typeface="Calibri" pitchFamily="34" charset="-122"/>
                <a:cs typeface="Calibri" pitchFamily="34" charset="-120"/>
              </a:rPr>
              <a:t>Development (mock) and production (SMTP) email modes</a:t>
            </a:r>
            <a:endParaRPr lang="en-US" sz="1200" dirty="0"/>
          </a:p>
        </p:txBody>
      </p:sp>
      <p:sp>
        <p:nvSpPr>
          <p:cNvPr id="18" name="Shape 16"/>
          <p:cNvSpPr/>
          <p:nvPr/>
        </p:nvSpPr>
        <p:spPr>
          <a:xfrm>
            <a:off x="822960" y="5458968"/>
            <a:ext cx="91440" cy="91440"/>
          </a:xfrm>
          <a:prstGeom prst="ellipse">
            <a:avLst/>
          </a:prstGeom>
          <a:solidFill>
            <a:srgbClr val="34D399"/>
          </a:solidFill>
          <a:ln/>
        </p:spPr>
      </p:sp>
      <p:sp>
        <p:nvSpPr>
          <p:cNvPr id="19" name="Text 17"/>
          <p:cNvSpPr/>
          <p:nvPr/>
        </p:nvSpPr>
        <p:spPr>
          <a:xfrm>
            <a:off x="1069848" y="5330952"/>
            <a:ext cx="5577840" cy="411480"/>
          </a:xfrm>
          <a:prstGeom prst="rect">
            <a:avLst/>
          </a:prstGeom>
          <a:noFill/>
          <a:ln/>
        </p:spPr>
        <p:txBody>
          <a:bodyPr wrap="square" lIns="0" tIns="0" rIns="0" bIns="0" rtlCol="0" anchor="ctr"/>
          <a:lstStyle/>
          <a:p>
            <a:pPr indent="0" marL="0">
              <a:buNone/>
            </a:pPr>
            <a:r>
              <a:rPr lang="en-US" sz="1200" dirty="0">
                <a:solidFill>
                  <a:srgbClr val="F5F7FA"/>
                </a:solidFill>
                <a:latin typeface="Calibri" pitchFamily="34" charset="0"/>
                <a:ea typeface="Calibri" pitchFamily="34" charset="-122"/>
                <a:cs typeface="Calibri" pitchFamily="34" charset="-120"/>
              </a:rPr>
              <a:t>Comments, attachments, search, pagination &amp; aggregate stats</a:t>
            </a:r>
            <a:endParaRPr lang="en-US" sz="1200" dirty="0"/>
          </a:p>
        </p:txBody>
      </p:sp>
      <p:sp>
        <p:nvSpPr>
          <p:cNvPr id="20" name="Shape 18"/>
          <p:cNvSpPr/>
          <p:nvPr/>
        </p:nvSpPr>
        <p:spPr>
          <a:xfrm>
            <a:off x="7040880" y="1463040"/>
            <a:ext cx="4572000" cy="4663440"/>
          </a:xfrm>
          <a:prstGeom prst="roundRect">
            <a:avLst>
              <a:gd name="adj" fmla="val 1600"/>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21" name="Text 19"/>
          <p:cNvSpPr/>
          <p:nvPr/>
        </p:nvSpPr>
        <p:spPr>
          <a:xfrm>
            <a:off x="7315200" y="1645920"/>
            <a:ext cx="4023360" cy="320040"/>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Evidence Status by Area</a:t>
            </a:r>
            <a:endParaRPr lang="en-US" sz="1400" dirty="0"/>
          </a:p>
        </p:txBody>
      </p:sp>
      <p:sp>
        <p:nvSpPr>
          <p:cNvPr id="22" name="Text 20"/>
          <p:cNvSpPr/>
          <p:nvPr/>
        </p:nvSpPr>
        <p:spPr>
          <a:xfrm>
            <a:off x="7315200" y="2103120"/>
            <a:ext cx="2651760" cy="384048"/>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Database &amp; schema</a:t>
            </a:r>
            <a:endParaRPr lang="en-US" sz="1100" dirty="0"/>
          </a:p>
        </p:txBody>
      </p:sp>
      <p:sp>
        <p:nvSpPr>
          <p:cNvPr id="23" name="Text 21"/>
          <p:cNvSpPr/>
          <p:nvPr/>
        </p:nvSpPr>
        <p:spPr>
          <a:xfrm>
            <a:off x="9966960" y="2103120"/>
            <a:ext cx="1554480" cy="384048"/>
          </a:xfrm>
          <a:prstGeom prst="rect">
            <a:avLst/>
          </a:prstGeom>
          <a:noFill/>
          <a:ln/>
        </p:spPr>
        <p:txBody>
          <a:bodyPr wrap="square" lIns="0" tIns="0" rIns="0" bIns="0" rtlCol="0" anchor="ctr"/>
          <a:lstStyle/>
          <a:p>
            <a:pPr algn="r" indent="0" marL="0">
              <a:buNone/>
            </a:pPr>
            <a:r>
              <a:rPr lang="en-US" sz="1050" b="1" dirty="0">
                <a:solidFill>
                  <a:srgbClr val="34D399"/>
                </a:solidFill>
                <a:latin typeface="Calibri" pitchFamily="34" charset="0"/>
                <a:ea typeface="Calibri" pitchFamily="34" charset="-122"/>
                <a:cs typeface="Calibri" pitchFamily="34" charset="-120"/>
              </a:rPr>
              <a:t>Verified</a:t>
            </a:r>
            <a:endParaRPr lang="en-US" sz="1050" dirty="0"/>
          </a:p>
        </p:txBody>
      </p:sp>
      <p:sp>
        <p:nvSpPr>
          <p:cNvPr id="24" name="Text 22"/>
          <p:cNvSpPr/>
          <p:nvPr/>
        </p:nvSpPr>
        <p:spPr>
          <a:xfrm>
            <a:off x="7315200" y="2606040"/>
            <a:ext cx="2651760" cy="384048"/>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Authentication logic</a:t>
            </a:r>
            <a:endParaRPr lang="en-US" sz="1100" dirty="0"/>
          </a:p>
        </p:txBody>
      </p:sp>
      <p:sp>
        <p:nvSpPr>
          <p:cNvPr id="25" name="Text 23"/>
          <p:cNvSpPr/>
          <p:nvPr/>
        </p:nvSpPr>
        <p:spPr>
          <a:xfrm>
            <a:off x="9966960" y="2606040"/>
            <a:ext cx="1554480" cy="384048"/>
          </a:xfrm>
          <a:prstGeom prst="rect">
            <a:avLst/>
          </a:prstGeom>
          <a:noFill/>
          <a:ln/>
        </p:spPr>
        <p:txBody>
          <a:bodyPr wrap="square" lIns="0" tIns="0" rIns="0" bIns="0" rtlCol="0" anchor="ctr"/>
          <a:lstStyle/>
          <a:p>
            <a:pPr algn="r" indent="0" marL="0">
              <a:buNone/>
            </a:pPr>
            <a:r>
              <a:rPr lang="en-US" sz="1050" b="1" dirty="0">
                <a:solidFill>
                  <a:srgbClr val="34D399"/>
                </a:solidFill>
                <a:latin typeface="Calibri" pitchFamily="34" charset="0"/>
                <a:ea typeface="Calibri" pitchFamily="34" charset="-122"/>
                <a:cs typeface="Calibri" pitchFamily="34" charset="-120"/>
              </a:rPr>
              <a:t>Verified (static)</a:t>
            </a:r>
            <a:endParaRPr lang="en-US" sz="1050" dirty="0"/>
          </a:p>
        </p:txBody>
      </p:sp>
      <p:sp>
        <p:nvSpPr>
          <p:cNvPr id="26" name="Text 24"/>
          <p:cNvSpPr/>
          <p:nvPr/>
        </p:nvSpPr>
        <p:spPr>
          <a:xfrm>
            <a:off x="7315200" y="3108960"/>
            <a:ext cx="2651760" cy="384048"/>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Complaint workflow</a:t>
            </a:r>
            <a:endParaRPr lang="en-US" sz="1100" dirty="0"/>
          </a:p>
        </p:txBody>
      </p:sp>
      <p:sp>
        <p:nvSpPr>
          <p:cNvPr id="27" name="Text 25"/>
          <p:cNvSpPr/>
          <p:nvPr/>
        </p:nvSpPr>
        <p:spPr>
          <a:xfrm>
            <a:off x="9966960" y="3108960"/>
            <a:ext cx="1554480" cy="384048"/>
          </a:xfrm>
          <a:prstGeom prst="rect">
            <a:avLst/>
          </a:prstGeom>
          <a:noFill/>
          <a:ln/>
        </p:spPr>
        <p:txBody>
          <a:bodyPr wrap="square" lIns="0" tIns="0" rIns="0" bIns="0" rtlCol="0" anchor="ctr"/>
          <a:lstStyle/>
          <a:p>
            <a:pPr algn="r" indent="0" marL="0">
              <a:buNone/>
            </a:pPr>
            <a:r>
              <a:rPr lang="en-US" sz="1050" b="1" dirty="0">
                <a:solidFill>
                  <a:srgbClr val="34D399"/>
                </a:solidFill>
                <a:latin typeface="Calibri" pitchFamily="34" charset="0"/>
                <a:ea typeface="Calibri" pitchFamily="34" charset="-122"/>
                <a:cs typeface="Calibri" pitchFamily="34" charset="-120"/>
              </a:rPr>
              <a:t>Verified (static)</a:t>
            </a:r>
            <a:endParaRPr lang="en-US" sz="1050" dirty="0"/>
          </a:p>
        </p:txBody>
      </p:sp>
      <p:sp>
        <p:nvSpPr>
          <p:cNvPr id="28" name="Text 26"/>
          <p:cNvSpPr/>
          <p:nvPr/>
        </p:nvSpPr>
        <p:spPr>
          <a:xfrm>
            <a:off x="7315200" y="3611880"/>
            <a:ext cx="2651760" cy="384048"/>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Security controls</a:t>
            </a:r>
            <a:endParaRPr lang="en-US" sz="1100" dirty="0"/>
          </a:p>
        </p:txBody>
      </p:sp>
      <p:sp>
        <p:nvSpPr>
          <p:cNvPr id="29" name="Text 27"/>
          <p:cNvSpPr/>
          <p:nvPr/>
        </p:nvSpPr>
        <p:spPr>
          <a:xfrm>
            <a:off x="9966960" y="3611880"/>
            <a:ext cx="1554480" cy="384048"/>
          </a:xfrm>
          <a:prstGeom prst="rect">
            <a:avLst/>
          </a:prstGeom>
          <a:noFill/>
          <a:ln/>
        </p:spPr>
        <p:txBody>
          <a:bodyPr wrap="square" lIns="0" tIns="0" rIns="0" bIns="0" rtlCol="0" anchor="ctr"/>
          <a:lstStyle/>
          <a:p>
            <a:pPr algn="r" indent="0" marL="0">
              <a:buNone/>
            </a:pPr>
            <a:r>
              <a:rPr lang="en-US" sz="1050" b="1" dirty="0">
                <a:solidFill>
                  <a:srgbClr val="34D399"/>
                </a:solidFill>
                <a:latin typeface="Calibri" pitchFamily="34" charset="0"/>
                <a:ea typeface="Calibri" pitchFamily="34" charset="-122"/>
                <a:cs typeface="Calibri" pitchFamily="34" charset="-120"/>
              </a:rPr>
              <a:t>Verified</a:t>
            </a:r>
            <a:endParaRPr lang="en-US" sz="1050" dirty="0"/>
          </a:p>
        </p:txBody>
      </p:sp>
      <p:sp>
        <p:nvSpPr>
          <p:cNvPr id="30" name="Text 28"/>
          <p:cNvSpPr/>
          <p:nvPr/>
        </p:nvSpPr>
        <p:spPr>
          <a:xfrm>
            <a:off x="7315200" y="4114800"/>
            <a:ext cx="2651760" cy="384048"/>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Source completeness</a:t>
            </a:r>
            <a:endParaRPr lang="en-US" sz="1100" dirty="0"/>
          </a:p>
        </p:txBody>
      </p:sp>
      <p:sp>
        <p:nvSpPr>
          <p:cNvPr id="31" name="Text 29"/>
          <p:cNvSpPr/>
          <p:nvPr/>
        </p:nvSpPr>
        <p:spPr>
          <a:xfrm>
            <a:off x="9966960" y="4114800"/>
            <a:ext cx="1554480" cy="384048"/>
          </a:xfrm>
          <a:prstGeom prst="rect">
            <a:avLst/>
          </a:prstGeom>
          <a:noFill/>
          <a:ln/>
        </p:spPr>
        <p:txBody>
          <a:bodyPr wrap="square" lIns="0" tIns="0" rIns="0" bIns="0" rtlCol="0" anchor="ctr"/>
          <a:lstStyle/>
          <a:p>
            <a:pPr algn="r" indent="0" marL="0">
              <a:buNone/>
            </a:pPr>
            <a:r>
              <a:rPr lang="en-US" sz="1050" b="1" dirty="0">
                <a:solidFill>
                  <a:srgbClr val="F0B429"/>
                </a:solidFill>
                <a:latin typeface="Calibri" pitchFamily="34" charset="0"/>
                <a:ea typeface="Calibri" pitchFamily="34" charset="-122"/>
                <a:cs typeface="Calibri" pitchFamily="34" charset="-120"/>
              </a:rPr>
              <a:t>Partial</a:t>
            </a:r>
            <a:endParaRPr lang="en-US" sz="1050" dirty="0"/>
          </a:p>
        </p:txBody>
      </p:sp>
      <p:sp>
        <p:nvSpPr>
          <p:cNvPr id="32" name="Text 30"/>
          <p:cNvSpPr/>
          <p:nvPr/>
        </p:nvSpPr>
        <p:spPr>
          <a:xfrm>
            <a:off x="7315200" y="4617720"/>
            <a:ext cx="2651760" cy="384048"/>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Runtime / API integration</a:t>
            </a:r>
            <a:endParaRPr lang="en-US" sz="1100" dirty="0"/>
          </a:p>
        </p:txBody>
      </p:sp>
      <p:sp>
        <p:nvSpPr>
          <p:cNvPr id="33" name="Text 31"/>
          <p:cNvSpPr/>
          <p:nvPr/>
        </p:nvSpPr>
        <p:spPr>
          <a:xfrm>
            <a:off x="9966960" y="4617720"/>
            <a:ext cx="1554480" cy="384048"/>
          </a:xfrm>
          <a:prstGeom prst="rect">
            <a:avLst/>
          </a:prstGeom>
          <a:noFill/>
          <a:ln/>
        </p:spPr>
        <p:txBody>
          <a:bodyPr wrap="square" lIns="0" tIns="0" rIns="0" bIns="0" rtlCol="0" anchor="ctr"/>
          <a:lstStyle/>
          <a:p>
            <a:pPr algn="r" indent="0" marL="0">
              <a:buNone/>
            </a:pPr>
            <a:r>
              <a:rPr lang="en-US" sz="1050" b="1" dirty="0">
                <a:solidFill>
                  <a:srgbClr val="F0B429"/>
                </a:solidFill>
                <a:latin typeface="Calibri" pitchFamily="34" charset="0"/>
                <a:ea typeface="Calibri" pitchFamily="34" charset="-122"/>
                <a:cs typeface="Calibri" pitchFamily="34" charset="-120"/>
              </a:rPr>
              <a:t>Blocked</a:t>
            </a:r>
            <a:endParaRPr lang="en-US" sz="1050" dirty="0"/>
          </a:p>
        </p:txBody>
      </p:sp>
      <p:sp>
        <p:nvSpPr>
          <p:cNvPr id="34" name="Text 32"/>
          <p:cNvSpPr/>
          <p:nvPr/>
        </p:nvSpPr>
        <p:spPr>
          <a:xfrm>
            <a:off x="7315200" y="5120640"/>
            <a:ext cx="2651760" cy="384048"/>
          </a:xfrm>
          <a:prstGeom prst="rect">
            <a:avLst/>
          </a:prstGeom>
          <a:noFill/>
          <a:ln/>
        </p:spPr>
        <p:txBody>
          <a:bodyPr wrap="square" lIns="0" tIns="0" rIns="0" bIns="0" rtlCol="0" anchor="ctr"/>
          <a:lstStyle/>
          <a:p>
            <a:pPr indent="0" marL="0">
              <a:buNone/>
            </a:pPr>
            <a:r>
              <a:rPr lang="en-US" sz="1100" dirty="0">
                <a:solidFill>
                  <a:srgbClr val="F5F7FA"/>
                </a:solidFill>
                <a:latin typeface="Calibri" pitchFamily="34" charset="0"/>
                <a:ea typeface="Calibri" pitchFamily="34" charset="-122"/>
                <a:cs typeface="Calibri" pitchFamily="34" charset="-120"/>
              </a:rPr>
              <a:t>User interface</a:t>
            </a:r>
            <a:endParaRPr lang="en-US" sz="1100" dirty="0"/>
          </a:p>
        </p:txBody>
      </p:sp>
      <p:sp>
        <p:nvSpPr>
          <p:cNvPr id="35" name="Text 33"/>
          <p:cNvSpPr/>
          <p:nvPr/>
        </p:nvSpPr>
        <p:spPr>
          <a:xfrm>
            <a:off x="9966960" y="5120640"/>
            <a:ext cx="1554480" cy="384048"/>
          </a:xfrm>
          <a:prstGeom prst="rect">
            <a:avLst/>
          </a:prstGeom>
          <a:noFill/>
          <a:ln/>
        </p:spPr>
        <p:txBody>
          <a:bodyPr wrap="square" lIns="0" tIns="0" rIns="0" bIns="0" rtlCol="0" anchor="ctr"/>
          <a:lstStyle/>
          <a:p>
            <a:pPr algn="r" indent="0" marL="0">
              <a:buNone/>
            </a:pPr>
            <a:r>
              <a:rPr lang="en-US" sz="1050" b="1" dirty="0">
                <a:solidFill>
                  <a:srgbClr val="F87171"/>
                </a:solidFill>
                <a:latin typeface="Calibri" pitchFamily="34" charset="0"/>
                <a:ea typeface="Calibri" pitchFamily="34" charset="-122"/>
                <a:cs typeface="Calibri" pitchFamily="34" charset="-120"/>
              </a:rPr>
              <a:t>Not verifiable</a:t>
            </a:r>
            <a:endParaRPr lang="en-US" sz="1050" dirty="0"/>
          </a:p>
        </p:txBody>
      </p:sp>
      <p:sp>
        <p:nvSpPr>
          <p:cNvPr id="36" name="Text 34"/>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37" name="Text 35"/>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CHALLENGES FACED</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Evidence Gaps, Honestly Reported</a:t>
            </a:r>
            <a:endParaRPr lang="en-US" sz="3000" dirty="0"/>
          </a:p>
        </p:txBody>
      </p:sp>
      <p:sp>
        <p:nvSpPr>
          <p:cNvPr id="4" name="Shape 2"/>
          <p:cNvSpPr/>
          <p:nvPr/>
        </p:nvSpPr>
        <p:spPr>
          <a:xfrm>
            <a:off x="548640" y="1508760"/>
            <a:ext cx="10881360" cy="749808"/>
          </a:xfrm>
          <a:prstGeom prst="rect">
            <a:avLst/>
          </a:prstGeom>
          <a:solidFill>
            <a:srgbClr val="18202F"/>
          </a:solidFill>
          <a:ln/>
        </p:spPr>
      </p:sp>
      <p:sp>
        <p:nvSpPr>
          <p:cNvPr id="5" name="Text 3"/>
          <p:cNvSpPr/>
          <p:nvPr/>
        </p:nvSpPr>
        <p:spPr>
          <a:xfrm>
            <a:off x="731520" y="1508760"/>
            <a:ext cx="3108960" cy="749808"/>
          </a:xfrm>
          <a:prstGeom prst="rect">
            <a:avLst/>
          </a:prstGeom>
          <a:noFill/>
          <a:ln/>
        </p:spPr>
        <p:txBody>
          <a:bodyPr wrap="square" lIns="0" tIns="0" rIns="0" bIns="0" rtlCol="0" anchor="ctr"/>
          <a:lstStyle/>
          <a:p>
            <a:pPr indent="0" marL="0">
              <a:buNone/>
            </a:pPr>
            <a:r>
              <a:rPr lang="en-US" sz="1250" b="1" dirty="0">
                <a:solidFill>
                  <a:srgbClr val="F0B429"/>
                </a:solidFill>
                <a:latin typeface="Calibri" pitchFamily="34" charset="0"/>
                <a:ea typeface="Calibri" pitchFamily="34" charset="-122"/>
                <a:cs typeface="Calibri" pitchFamily="34" charset="-120"/>
              </a:rPr>
              <a:t>Incomplete upload</a:t>
            </a:r>
            <a:endParaRPr lang="en-US" sz="1250" dirty="0"/>
          </a:p>
        </p:txBody>
      </p:sp>
      <p:sp>
        <p:nvSpPr>
          <p:cNvPr id="6" name="Text 4"/>
          <p:cNvSpPr/>
          <p:nvPr/>
        </p:nvSpPr>
        <p:spPr>
          <a:xfrm>
            <a:off x="3840480" y="1508760"/>
            <a:ext cx="7406640" cy="7498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public/ frontend, assets &amp; screenshots were absent from the submission.</a:t>
            </a:r>
            <a:endParaRPr lang="en-US" sz="1150" dirty="0"/>
          </a:p>
        </p:txBody>
      </p:sp>
      <p:sp>
        <p:nvSpPr>
          <p:cNvPr id="7" name="Text 5"/>
          <p:cNvSpPr/>
          <p:nvPr/>
        </p:nvSpPr>
        <p:spPr>
          <a:xfrm>
            <a:off x="731520" y="2258568"/>
            <a:ext cx="3108960" cy="749808"/>
          </a:xfrm>
          <a:prstGeom prst="rect">
            <a:avLst/>
          </a:prstGeom>
          <a:noFill/>
          <a:ln/>
        </p:spPr>
        <p:txBody>
          <a:bodyPr wrap="square" lIns="0" tIns="0" rIns="0" bIns="0" rtlCol="0" anchor="ctr"/>
          <a:lstStyle/>
          <a:p>
            <a:pPr indent="0" marL="0">
              <a:buNone/>
            </a:pPr>
            <a:r>
              <a:rPr lang="en-US" sz="1250" b="1" dirty="0">
                <a:solidFill>
                  <a:srgbClr val="F0B429"/>
                </a:solidFill>
                <a:latin typeface="Calibri" pitchFamily="34" charset="0"/>
                <a:ea typeface="Calibri" pitchFamily="34" charset="-122"/>
                <a:cs typeface="Calibri" pitchFamily="34" charset="-120"/>
              </a:rPr>
              <a:t>Dependency restoration blocked</a:t>
            </a:r>
            <a:endParaRPr lang="en-US" sz="1250" dirty="0"/>
          </a:p>
        </p:txBody>
      </p:sp>
      <p:sp>
        <p:nvSpPr>
          <p:cNvPr id="8" name="Text 6"/>
          <p:cNvSpPr/>
          <p:nvPr/>
        </p:nvSpPr>
        <p:spPr>
          <a:xfrm>
            <a:off x="3840480" y="2258568"/>
            <a:ext cx="7406640" cy="7498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Package registry returned HTTP 503; verified via syntax + schema tests instead.</a:t>
            </a:r>
            <a:endParaRPr lang="en-US" sz="1150" dirty="0"/>
          </a:p>
        </p:txBody>
      </p:sp>
      <p:sp>
        <p:nvSpPr>
          <p:cNvPr id="9" name="Shape 7"/>
          <p:cNvSpPr/>
          <p:nvPr/>
        </p:nvSpPr>
        <p:spPr>
          <a:xfrm>
            <a:off x="548640" y="3008376"/>
            <a:ext cx="10881360" cy="749808"/>
          </a:xfrm>
          <a:prstGeom prst="rect">
            <a:avLst/>
          </a:prstGeom>
          <a:solidFill>
            <a:srgbClr val="18202F"/>
          </a:solidFill>
          <a:ln/>
        </p:spPr>
      </p:sp>
      <p:sp>
        <p:nvSpPr>
          <p:cNvPr id="10" name="Text 8"/>
          <p:cNvSpPr/>
          <p:nvPr/>
        </p:nvSpPr>
        <p:spPr>
          <a:xfrm>
            <a:off x="731520" y="3008376"/>
            <a:ext cx="3108960" cy="749808"/>
          </a:xfrm>
          <a:prstGeom prst="rect">
            <a:avLst/>
          </a:prstGeom>
          <a:noFill/>
          <a:ln/>
        </p:spPr>
        <p:txBody>
          <a:bodyPr wrap="square" lIns="0" tIns="0" rIns="0" bIns="0" rtlCol="0" anchor="ctr"/>
          <a:lstStyle/>
          <a:p>
            <a:pPr indent="0" marL="0">
              <a:buNone/>
            </a:pPr>
            <a:r>
              <a:rPr lang="en-US" sz="1250" b="1" dirty="0">
                <a:solidFill>
                  <a:srgbClr val="F0B429"/>
                </a:solidFill>
                <a:latin typeface="Calibri" pitchFamily="34" charset="0"/>
                <a:ea typeface="Calibri" pitchFamily="34" charset="-122"/>
                <a:cs typeface="Calibri" pitchFamily="34" charset="-120"/>
              </a:rPr>
              <a:t>Session store mismatch</a:t>
            </a:r>
            <a:endParaRPr lang="en-US" sz="1250" dirty="0"/>
          </a:p>
        </p:txBody>
      </p:sp>
      <p:sp>
        <p:nvSpPr>
          <p:cNvPr id="11" name="Text 9"/>
          <p:cNvSpPr/>
          <p:nvPr/>
        </p:nvSpPr>
        <p:spPr>
          <a:xfrm>
            <a:off x="3840480" y="3008376"/>
            <a:ext cx="7406640" cy="7498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README claims SQLite-backed sessions, but connect-sqlite3 is not wired in — default in-memory store is active.</a:t>
            </a:r>
            <a:endParaRPr lang="en-US" sz="1150" dirty="0"/>
          </a:p>
        </p:txBody>
      </p:sp>
      <p:sp>
        <p:nvSpPr>
          <p:cNvPr id="12" name="Text 10"/>
          <p:cNvSpPr/>
          <p:nvPr/>
        </p:nvSpPr>
        <p:spPr>
          <a:xfrm>
            <a:off x="731520" y="3758184"/>
            <a:ext cx="3108960" cy="749808"/>
          </a:xfrm>
          <a:prstGeom prst="rect">
            <a:avLst/>
          </a:prstGeom>
          <a:noFill/>
          <a:ln/>
        </p:spPr>
        <p:txBody>
          <a:bodyPr wrap="square" lIns="0" tIns="0" rIns="0" bIns="0" rtlCol="0" anchor="ctr"/>
          <a:lstStyle/>
          <a:p>
            <a:pPr indent="0" marL="0">
              <a:buNone/>
            </a:pPr>
            <a:r>
              <a:rPr lang="en-US" sz="1250" b="1" dirty="0">
                <a:solidFill>
                  <a:srgbClr val="F0B429"/>
                </a:solidFill>
                <a:latin typeface="Calibri" pitchFamily="34" charset="0"/>
                <a:ea typeface="Calibri" pitchFamily="34" charset="-122"/>
                <a:cs typeface="Calibri" pitchFamily="34" charset="-120"/>
              </a:rPr>
              <a:t>Public static uploads</a:t>
            </a:r>
            <a:endParaRPr lang="en-US" sz="1250" dirty="0"/>
          </a:p>
        </p:txBody>
      </p:sp>
      <p:sp>
        <p:nvSpPr>
          <p:cNvPr id="13" name="Text 11"/>
          <p:cNvSpPr/>
          <p:nvPr/>
        </p:nvSpPr>
        <p:spPr>
          <a:xfrm>
            <a:off x="3840480" y="3758184"/>
            <a:ext cx="7406640" cy="7498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Attachments are served from a public static route without per-request authorization.</a:t>
            </a:r>
            <a:endParaRPr lang="en-US" sz="1150" dirty="0"/>
          </a:p>
        </p:txBody>
      </p:sp>
      <p:sp>
        <p:nvSpPr>
          <p:cNvPr id="14" name="Shape 12"/>
          <p:cNvSpPr/>
          <p:nvPr/>
        </p:nvSpPr>
        <p:spPr>
          <a:xfrm>
            <a:off x="548640" y="4507992"/>
            <a:ext cx="10881360" cy="749808"/>
          </a:xfrm>
          <a:prstGeom prst="rect">
            <a:avLst/>
          </a:prstGeom>
          <a:solidFill>
            <a:srgbClr val="18202F"/>
          </a:solidFill>
          <a:ln/>
        </p:spPr>
      </p:sp>
      <p:sp>
        <p:nvSpPr>
          <p:cNvPr id="15" name="Text 13"/>
          <p:cNvSpPr/>
          <p:nvPr/>
        </p:nvSpPr>
        <p:spPr>
          <a:xfrm>
            <a:off x="731520" y="4507992"/>
            <a:ext cx="3108960" cy="749808"/>
          </a:xfrm>
          <a:prstGeom prst="rect">
            <a:avLst/>
          </a:prstGeom>
          <a:noFill/>
          <a:ln/>
        </p:spPr>
        <p:txBody>
          <a:bodyPr wrap="square" lIns="0" tIns="0" rIns="0" bIns="0" rtlCol="0" anchor="ctr"/>
          <a:lstStyle/>
          <a:p>
            <a:pPr indent="0" marL="0">
              <a:buNone/>
            </a:pPr>
            <a:r>
              <a:rPr lang="en-US" sz="1250" b="1" dirty="0">
                <a:solidFill>
                  <a:srgbClr val="F0B429"/>
                </a:solidFill>
                <a:latin typeface="Calibri" pitchFamily="34" charset="0"/>
                <a:ea typeface="Calibri" pitchFamily="34" charset="-122"/>
                <a:cs typeface="Calibri" pitchFamily="34" charset="-120"/>
              </a:rPr>
              <a:t>Disabled Content Security Policy</a:t>
            </a:r>
            <a:endParaRPr lang="en-US" sz="1250" dirty="0"/>
          </a:p>
        </p:txBody>
      </p:sp>
      <p:sp>
        <p:nvSpPr>
          <p:cNvPr id="16" name="Text 14"/>
          <p:cNvSpPr/>
          <p:nvPr/>
        </p:nvSpPr>
        <p:spPr>
          <a:xfrm>
            <a:off x="3840480" y="4507992"/>
            <a:ext cx="7406640" cy="7498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Helmet's CSP is turned off; CSRF protection is not implemented.</a:t>
            </a:r>
            <a:endParaRPr lang="en-US" sz="1150" dirty="0"/>
          </a:p>
        </p:txBody>
      </p:sp>
      <p:sp>
        <p:nvSpPr>
          <p:cNvPr id="17" name="Text 15"/>
          <p:cNvSpPr/>
          <p:nvPr/>
        </p:nvSpPr>
        <p:spPr>
          <a:xfrm>
            <a:off x="731520" y="5257800"/>
            <a:ext cx="3108960" cy="749808"/>
          </a:xfrm>
          <a:prstGeom prst="rect">
            <a:avLst/>
          </a:prstGeom>
          <a:noFill/>
          <a:ln/>
        </p:spPr>
        <p:txBody>
          <a:bodyPr wrap="square" lIns="0" tIns="0" rIns="0" bIns="0" rtlCol="0" anchor="ctr"/>
          <a:lstStyle/>
          <a:p>
            <a:pPr indent="0" marL="0">
              <a:buNone/>
            </a:pPr>
            <a:r>
              <a:rPr lang="en-US" sz="1250" b="1" dirty="0">
                <a:solidFill>
                  <a:srgbClr val="F0B429"/>
                </a:solidFill>
                <a:latin typeface="Calibri" pitchFamily="34" charset="0"/>
                <a:ea typeface="Calibri" pitchFamily="34" charset="-122"/>
                <a:cs typeface="Calibri" pitchFamily="34" charset="-120"/>
              </a:rPr>
              <a:t>Single-file backend</a:t>
            </a:r>
            <a:endParaRPr lang="en-US" sz="1250" dirty="0"/>
          </a:p>
        </p:txBody>
      </p:sp>
      <p:sp>
        <p:nvSpPr>
          <p:cNvPr id="18" name="Text 16"/>
          <p:cNvSpPr/>
          <p:nvPr/>
        </p:nvSpPr>
        <p:spPr>
          <a:xfrm>
            <a:off x="3840480" y="5257800"/>
            <a:ext cx="7406640" cy="749808"/>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All concerns (DB, mail, validation, routes) live in one 665-line server.js.</a:t>
            </a:r>
            <a:endParaRPr lang="en-US" sz="1150" dirty="0"/>
          </a:p>
        </p:txBody>
      </p:sp>
      <p:sp>
        <p:nvSpPr>
          <p:cNvPr id="19" name="Text 17"/>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20" name="Text 18"/>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FUTURE ENHANCEMENTS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Roadmap to a Production-Ready Platform</a:t>
            </a:r>
            <a:endParaRPr lang="en-US" sz="3000" dirty="0"/>
          </a:p>
        </p:txBody>
      </p:sp>
      <p:sp>
        <p:nvSpPr>
          <p:cNvPr id="4" name="Shape 2"/>
          <p:cNvSpPr/>
          <p:nvPr/>
        </p:nvSpPr>
        <p:spPr>
          <a:xfrm>
            <a:off x="548640" y="1508760"/>
            <a:ext cx="5394960" cy="4617720"/>
          </a:xfrm>
          <a:prstGeom prst="roundRect">
            <a:avLst>
              <a:gd name="adj" fmla="val 1584"/>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822960" y="1737360"/>
            <a:ext cx="1005840" cy="365760"/>
          </a:xfrm>
          <a:prstGeom prst="roundRect">
            <a:avLst>
              <a:gd name="adj" fmla="val 50000"/>
            </a:avLst>
          </a:prstGeom>
          <a:solidFill>
            <a:srgbClr val="3B1417"/>
          </a:solidFill>
          <a:ln w="12700">
            <a:solidFill>
              <a:srgbClr val="F87171"/>
            </a:solidFill>
            <a:prstDash val="solid"/>
          </a:ln>
        </p:spPr>
      </p:sp>
      <p:sp>
        <p:nvSpPr>
          <p:cNvPr id="6" name="Text 4"/>
          <p:cNvSpPr/>
          <p:nvPr/>
        </p:nvSpPr>
        <p:spPr>
          <a:xfrm>
            <a:off x="822960" y="1737360"/>
            <a:ext cx="1005840" cy="365760"/>
          </a:xfrm>
          <a:prstGeom prst="rect">
            <a:avLst/>
          </a:prstGeom>
          <a:noFill/>
          <a:ln/>
        </p:spPr>
        <p:txBody>
          <a:bodyPr wrap="square" lIns="0" tIns="0" rIns="0" bIns="0" rtlCol="0" anchor="ctr"/>
          <a:lstStyle/>
          <a:p>
            <a:pPr algn="ctr" indent="0" marL="0">
              <a:buNone/>
            </a:pPr>
            <a:r>
              <a:rPr lang="en-US" sz="1100" b="1" dirty="0">
                <a:solidFill>
                  <a:srgbClr val="F87171"/>
                </a:solidFill>
                <a:latin typeface="Calibri" pitchFamily="34" charset="0"/>
                <a:ea typeface="Calibri" pitchFamily="34" charset="-122"/>
                <a:cs typeface="Calibri" pitchFamily="34" charset="-120"/>
              </a:rPr>
              <a:t>HIGH</a:t>
            </a:r>
            <a:endParaRPr lang="en-US" sz="1100" dirty="0"/>
          </a:p>
        </p:txBody>
      </p:sp>
      <p:sp>
        <p:nvSpPr>
          <p:cNvPr id="7" name="Text 5"/>
          <p:cNvSpPr/>
          <p:nvPr/>
        </p:nvSpPr>
        <p:spPr>
          <a:xfrm>
            <a:off x="822960" y="2331720"/>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Persistent session store (connect-sqlite3 or Redis)</a:t>
            </a:r>
            <a:endParaRPr lang="en-US" sz="1150" dirty="0"/>
          </a:p>
        </p:txBody>
      </p:sp>
      <p:sp>
        <p:nvSpPr>
          <p:cNvPr id="8" name="Text 6"/>
          <p:cNvSpPr/>
          <p:nvPr/>
        </p:nvSpPr>
        <p:spPr>
          <a:xfrm>
            <a:off x="822960" y="2898648"/>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Private object storage + authorized attachment downloads</a:t>
            </a:r>
            <a:endParaRPr lang="en-US" sz="1150" dirty="0"/>
          </a:p>
        </p:txBody>
      </p:sp>
      <p:sp>
        <p:nvSpPr>
          <p:cNvPr id="9" name="Text 7"/>
          <p:cNvSpPr/>
          <p:nvPr/>
        </p:nvSpPr>
        <p:spPr>
          <a:xfrm>
            <a:off x="822960" y="3465576"/>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CSRF protection &amp; strict Content Security Policy</a:t>
            </a:r>
            <a:endParaRPr lang="en-US" sz="1150" dirty="0"/>
          </a:p>
        </p:txBody>
      </p:sp>
      <p:sp>
        <p:nvSpPr>
          <p:cNvPr id="10" name="Text 8"/>
          <p:cNvSpPr/>
          <p:nvPr/>
        </p:nvSpPr>
        <p:spPr>
          <a:xfrm>
            <a:off x="822960" y="4032504"/>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Remove dev secrets &amp; mock OTP exposure; use a secret manager</a:t>
            </a:r>
            <a:endParaRPr lang="en-US" sz="1150" dirty="0"/>
          </a:p>
        </p:txBody>
      </p:sp>
      <p:sp>
        <p:nvSpPr>
          <p:cNvPr id="11" name="Text 9"/>
          <p:cNvSpPr/>
          <p:nvPr/>
        </p:nvSpPr>
        <p:spPr>
          <a:xfrm>
            <a:off x="822960" y="4599432"/>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Audit history — complaint_status_history &amp; audit_log tables</a:t>
            </a:r>
            <a:endParaRPr lang="en-US" sz="1150" dirty="0"/>
          </a:p>
        </p:txBody>
      </p:sp>
      <p:sp>
        <p:nvSpPr>
          <p:cNvPr id="12" name="Shape 10"/>
          <p:cNvSpPr/>
          <p:nvPr/>
        </p:nvSpPr>
        <p:spPr>
          <a:xfrm>
            <a:off x="6217920" y="1508760"/>
            <a:ext cx="5394960" cy="4617720"/>
          </a:xfrm>
          <a:prstGeom prst="roundRect">
            <a:avLst>
              <a:gd name="adj" fmla="val 1584"/>
            </a:avLst>
          </a:prstGeom>
          <a:solidFill>
            <a:srgbClr val="18202F"/>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3" name="Shape 11"/>
          <p:cNvSpPr/>
          <p:nvPr/>
        </p:nvSpPr>
        <p:spPr>
          <a:xfrm>
            <a:off x="6492240" y="1737360"/>
            <a:ext cx="1371600" cy="365760"/>
          </a:xfrm>
          <a:prstGeom prst="roundRect">
            <a:avLst>
              <a:gd name="adj" fmla="val 50000"/>
            </a:avLst>
          </a:prstGeom>
          <a:solidFill>
            <a:srgbClr val="13293D"/>
          </a:solidFill>
          <a:ln w="12700">
            <a:solidFill>
              <a:srgbClr val="2DD4BF"/>
            </a:solidFill>
            <a:prstDash val="solid"/>
          </a:ln>
        </p:spPr>
      </p:sp>
      <p:sp>
        <p:nvSpPr>
          <p:cNvPr id="14" name="Text 12"/>
          <p:cNvSpPr/>
          <p:nvPr/>
        </p:nvSpPr>
        <p:spPr>
          <a:xfrm>
            <a:off x="6492240" y="1737360"/>
            <a:ext cx="1371600" cy="365760"/>
          </a:xfrm>
          <a:prstGeom prst="rect">
            <a:avLst/>
          </a:prstGeom>
          <a:noFill/>
          <a:ln/>
        </p:spPr>
        <p:txBody>
          <a:bodyPr wrap="square" lIns="0" tIns="0" rIns="0" bIns="0" rtlCol="0" anchor="ctr"/>
          <a:lstStyle/>
          <a:p>
            <a:pPr algn="ctr" indent="0" marL="0">
              <a:buNone/>
            </a:pPr>
            <a:r>
              <a:rPr lang="en-US" sz="1100" b="1" dirty="0">
                <a:solidFill>
                  <a:srgbClr val="2DD4BF"/>
                </a:solidFill>
                <a:latin typeface="Calibri" pitchFamily="34" charset="0"/>
                <a:ea typeface="Calibri" pitchFamily="34" charset="-122"/>
                <a:cs typeface="Calibri" pitchFamily="34" charset="-120"/>
              </a:rPr>
              <a:t>MEDIUM</a:t>
            </a:r>
            <a:endParaRPr lang="en-US" sz="1100" dirty="0"/>
          </a:p>
        </p:txBody>
      </p:sp>
      <p:sp>
        <p:nvSpPr>
          <p:cNvPr id="15" name="Text 13"/>
          <p:cNvSpPr/>
          <p:nvPr/>
        </p:nvSpPr>
        <p:spPr>
          <a:xfrm>
            <a:off x="6492240" y="2331720"/>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Layered refactor: controllers, services, repositories</a:t>
            </a:r>
            <a:endParaRPr lang="en-US" sz="1150" dirty="0"/>
          </a:p>
        </p:txBody>
      </p:sp>
      <p:sp>
        <p:nvSpPr>
          <p:cNvPr id="16" name="Text 14"/>
          <p:cNvSpPr/>
          <p:nvPr/>
        </p:nvSpPr>
        <p:spPr>
          <a:xfrm>
            <a:off x="6492240" y="2898648"/>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Automated unit / integration / E2E test suites</a:t>
            </a:r>
            <a:endParaRPr lang="en-US" sz="1150" dirty="0"/>
          </a:p>
        </p:txBody>
      </p:sp>
      <p:sp>
        <p:nvSpPr>
          <p:cNvPr id="17" name="Text 15"/>
          <p:cNvSpPr/>
          <p:nvPr/>
        </p:nvSpPr>
        <p:spPr>
          <a:xfrm>
            <a:off x="6492240" y="3465576"/>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Upgrade to PostgreSQL for concurrent production scale</a:t>
            </a:r>
            <a:endParaRPr lang="en-US" sz="1150" dirty="0"/>
          </a:p>
        </p:txBody>
      </p:sp>
      <p:sp>
        <p:nvSpPr>
          <p:cNvPr id="18" name="Text 16"/>
          <p:cNvSpPr/>
          <p:nvPr/>
        </p:nvSpPr>
        <p:spPr>
          <a:xfrm>
            <a:off x="6492240" y="4032504"/>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SLA timers, ageing &amp; exportable vendor performance reports</a:t>
            </a:r>
            <a:endParaRPr lang="en-US" sz="1150" dirty="0"/>
          </a:p>
        </p:txBody>
      </p:sp>
      <p:sp>
        <p:nvSpPr>
          <p:cNvPr id="19" name="Text 17"/>
          <p:cNvSpPr/>
          <p:nvPr/>
        </p:nvSpPr>
        <p:spPr>
          <a:xfrm>
            <a:off x="6492240" y="4599432"/>
            <a:ext cx="4846320" cy="502920"/>
          </a:xfrm>
          <a:prstGeom prst="rect">
            <a:avLst/>
          </a:prstGeom>
          <a:noFill/>
          <a:ln/>
        </p:spPr>
        <p:txBody>
          <a:bodyPr wrap="square" lIns="0" tIns="0" rIns="0" bIns="0" rtlCol="0" anchor="ctr"/>
          <a:lstStyle/>
          <a:p>
            <a:pPr indent="0" marL="0">
              <a:buNone/>
            </a:pPr>
            <a:r>
              <a:rPr lang="en-US" sz="1150" dirty="0">
                <a:solidFill>
                  <a:srgbClr val="F5F7FA"/>
                </a:solidFill>
                <a:latin typeface="Calibri" pitchFamily="34" charset="0"/>
                <a:ea typeface="Calibri" pitchFamily="34" charset="-122"/>
                <a:cs typeface="Calibri" pitchFamily="34" charset="-120"/>
              </a:rPr>
              <a:t>•  Bilingual content &amp; WCAG 2.2 accessibility validation</a:t>
            </a:r>
            <a:endParaRPr lang="en-US" sz="1150" dirty="0"/>
          </a:p>
        </p:txBody>
      </p:sp>
      <p:sp>
        <p:nvSpPr>
          <p:cNvPr id="20" name="Text 18"/>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21" name="Text 19"/>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548640" y="548640"/>
            <a:ext cx="82296" cy="82296"/>
          </a:xfrm>
          <a:prstGeom prst="ellipse">
            <a:avLst/>
          </a:prstGeom>
          <a:solidFill>
            <a:srgbClr val="2DD4BF">
              <a:alpha val="70000"/>
            </a:srgbClr>
          </a:solidFill>
          <a:ln/>
        </p:spPr>
      </p:sp>
      <p:sp>
        <p:nvSpPr>
          <p:cNvPr id="3" name="Shape 1"/>
          <p:cNvSpPr/>
          <p:nvPr/>
        </p:nvSpPr>
        <p:spPr>
          <a:xfrm>
            <a:off x="914400" y="548640"/>
            <a:ext cx="82296" cy="82296"/>
          </a:xfrm>
          <a:prstGeom prst="ellipse">
            <a:avLst/>
          </a:prstGeom>
          <a:solidFill>
            <a:srgbClr val="2DD4BF">
              <a:alpha val="70000"/>
            </a:srgbClr>
          </a:solidFill>
          <a:ln/>
        </p:spPr>
      </p:sp>
      <p:sp>
        <p:nvSpPr>
          <p:cNvPr id="4" name="Shape 2"/>
          <p:cNvSpPr/>
          <p:nvPr/>
        </p:nvSpPr>
        <p:spPr>
          <a:xfrm>
            <a:off x="1280160" y="548640"/>
            <a:ext cx="82296" cy="82296"/>
          </a:xfrm>
          <a:prstGeom prst="ellipse">
            <a:avLst/>
          </a:prstGeom>
          <a:solidFill>
            <a:srgbClr val="2DD4BF">
              <a:alpha val="70000"/>
            </a:srgbClr>
          </a:solidFill>
          <a:ln/>
        </p:spPr>
      </p:sp>
      <p:sp>
        <p:nvSpPr>
          <p:cNvPr id="5" name="Shape 3"/>
          <p:cNvSpPr/>
          <p:nvPr/>
        </p:nvSpPr>
        <p:spPr>
          <a:xfrm>
            <a:off x="548640" y="914400"/>
            <a:ext cx="82296" cy="82296"/>
          </a:xfrm>
          <a:prstGeom prst="ellipse">
            <a:avLst/>
          </a:prstGeom>
          <a:solidFill>
            <a:srgbClr val="2DD4BF">
              <a:alpha val="70000"/>
            </a:srgbClr>
          </a:solidFill>
          <a:ln/>
        </p:spPr>
      </p:sp>
      <p:sp>
        <p:nvSpPr>
          <p:cNvPr id="6" name="Shape 4"/>
          <p:cNvSpPr/>
          <p:nvPr/>
        </p:nvSpPr>
        <p:spPr>
          <a:xfrm>
            <a:off x="1280160" y="914400"/>
            <a:ext cx="82296" cy="82296"/>
          </a:xfrm>
          <a:prstGeom prst="ellipse">
            <a:avLst/>
          </a:prstGeom>
          <a:solidFill>
            <a:srgbClr val="2DD4BF">
              <a:alpha val="70000"/>
            </a:srgbClr>
          </a:solidFill>
          <a:ln/>
        </p:spPr>
      </p:sp>
      <p:sp>
        <p:nvSpPr>
          <p:cNvPr id="7" name="Text 5"/>
          <p:cNvSpPr/>
          <p:nvPr/>
        </p:nvSpPr>
        <p:spPr>
          <a:xfrm>
            <a:off x="548640" y="1554480"/>
            <a:ext cx="5486400" cy="320040"/>
          </a:xfrm>
          <a:prstGeom prst="rect">
            <a:avLst/>
          </a:prstGeom>
          <a:noFill/>
          <a:ln/>
        </p:spPr>
        <p:txBody>
          <a:bodyPr wrap="square" lIns="0" tIns="0" rIns="0" bIns="0" rtlCol="0" anchor="ctr"/>
          <a:lstStyle/>
          <a:p>
            <a:pPr indent="0" marL="0">
              <a:buNone/>
            </a:pPr>
            <a:r>
              <a:rPr lang="en-US" sz="1300" b="1" spc="200" kern="0" dirty="0">
                <a:solidFill>
                  <a:srgbClr val="2DD4BF"/>
                </a:solidFill>
                <a:latin typeface="Calibri" pitchFamily="34" charset="0"/>
                <a:ea typeface="Calibri" pitchFamily="34" charset="-122"/>
                <a:cs typeface="Calibri" pitchFamily="34" charset="-120"/>
              </a:rPr>
              <a:t>CONCLUSION</a:t>
            </a:r>
            <a:endParaRPr lang="en-US" sz="1300" dirty="0"/>
          </a:p>
        </p:txBody>
      </p:sp>
      <p:sp>
        <p:nvSpPr>
          <p:cNvPr id="8" name="Text 6"/>
          <p:cNvSpPr/>
          <p:nvPr/>
        </p:nvSpPr>
        <p:spPr>
          <a:xfrm>
            <a:off x="548640" y="1874520"/>
            <a:ext cx="10058400" cy="822960"/>
          </a:xfrm>
          <a:prstGeom prst="rect">
            <a:avLst/>
          </a:prstGeom>
          <a:noFill/>
          <a:ln/>
        </p:spPr>
        <p:txBody>
          <a:bodyPr wrap="square" lIns="0" tIns="0" rIns="0" bIns="0" rtlCol="0" anchor="ctr"/>
          <a:lstStyle/>
          <a:p>
            <a:pPr indent="0" marL="0">
              <a:buNone/>
            </a:pPr>
            <a:r>
              <a:rPr lang="en-US" sz="3200" b="1" dirty="0">
                <a:solidFill>
                  <a:srgbClr val="F5F7FA"/>
                </a:solidFill>
                <a:latin typeface="Cambria" pitchFamily="34" charset="0"/>
                <a:ea typeface="Cambria" pitchFamily="34" charset="-122"/>
                <a:cs typeface="Cambria" pitchFamily="34" charset="-120"/>
              </a:rPr>
              <a:t>A Coherent Prototype, Ready for Hardening</a:t>
            </a:r>
            <a:endParaRPr lang="en-US" sz="3200" dirty="0"/>
          </a:p>
        </p:txBody>
      </p:sp>
      <p:sp>
        <p:nvSpPr>
          <p:cNvPr id="9" name="Text 7"/>
          <p:cNvSpPr/>
          <p:nvPr/>
        </p:nvSpPr>
        <p:spPr>
          <a:xfrm>
            <a:off x="548640" y="2788920"/>
            <a:ext cx="7315200" cy="3017520"/>
          </a:xfrm>
          <a:prstGeom prst="rect">
            <a:avLst/>
          </a:prstGeom>
          <a:noFill/>
          <a:ln/>
        </p:spPr>
        <p:txBody>
          <a:bodyPr wrap="square" lIns="0" tIns="0" rIns="0" bIns="0" rtlCol="0" anchor="ctr"/>
          <a:lstStyle/>
          <a:p>
            <a:pPr indent="0" marL="0">
              <a:lnSpc>
                <a:spcPct val="130000"/>
              </a:lnSpc>
              <a:buNone/>
            </a:pPr>
            <a:r>
              <a:rPr lang="en-US" sz="1350" dirty="0">
                <a:solidFill>
                  <a:srgbClr val="94A3B8"/>
                </a:solidFill>
                <a:latin typeface="Calibri" pitchFamily="34" charset="0"/>
                <a:ea typeface="Calibri" pitchFamily="34" charset="-122"/>
                <a:cs typeface="Calibri" pitchFamily="34" charset="-120"/>
              </a:rPr>
              <a:t>The project's strongest achievement is its domain-aware complaint lifecycle: Product Issue cases are tied to the complainant's registered manufacturing category, administrators assign matching vendors, vendors record resolutions, and consumers retain the final word. Database constraints and server-side authorization reinforce every transition.</a:t>
            </a:r>
            <a:endParaRPr lang="en-US" sz="1350" dirty="0"/>
          </a:p>
          <a:p>
            <a:pPr indent="0" marL="0">
              <a:lnSpc>
                <a:spcPct val="130000"/>
              </a:lnSpc>
              <a:buNone/>
            </a:pPr>
            <a:endParaRPr lang="en-US" sz="1350" dirty="0"/>
          </a:p>
          <a:p>
            <a:pPr indent="0" marL="0">
              <a:lnSpc>
                <a:spcPct val="130000"/>
              </a:lnSpc>
              <a:buNone/>
            </a:pPr>
            <a:r>
              <a:rPr lang="en-US" sz="1350" dirty="0">
                <a:solidFill>
                  <a:srgbClr val="94A3B8"/>
                </a:solidFill>
                <a:latin typeface="Calibri" pitchFamily="34" charset="0"/>
                <a:ea typeface="Calibri" pitchFamily="34" charset="-122"/>
                <a:cs typeface="Calibri" pitchFamily="34" charset="-120"/>
              </a:rPr>
              <a:t>With the recommended session, storage, CSRF, audit and testing improvements — and restoration of the missing frontend — this backend can serve as a solid foundation for a secure institutional complaint-management platform.</a:t>
            </a:r>
            <a:endParaRPr lang="en-US" sz="1350" dirty="0"/>
          </a:p>
        </p:txBody>
      </p:sp>
      <p:sp>
        <p:nvSpPr>
          <p:cNvPr id="10" name="Shape 8"/>
          <p:cNvSpPr/>
          <p:nvPr/>
        </p:nvSpPr>
        <p:spPr>
          <a:xfrm>
            <a:off x="8229600" y="2788920"/>
            <a:ext cx="3383280" cy="3017520"/>
          </a:xfrm>
          <a:prstGeom prst="roundRect">
            <a:avLst>
              <a:gd name="adj" fmla="val 2424"/>
            </a:avLst>
          </a:prstGeom>
          <a:solidFill>
            <a:srgbClr val="1F2937"/>
          </a:solidFill>
          <a:ln w="12700">
            <a:solidFill>
              <a:srgbClr val="2B3546"/>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8503920" y="3017520"/>
            <a:ext cx="283464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Submitted to</a:t>
            </a:r>
            <a:endParaRPr lang="en-US" sz="1050" dirty="0"/>
          </a:p>
        </p:txBody>
      </p:sp>
      <p:sp>
        <p:nvSpPr>
          <p:cNvPr id="12" name="Text 10"/>
          <p:cNvSpPr/>
          <p:nvPr/>
        </p:nvSpPr>
        <p:spPr>
          <a:xfrm>
            <a:off x="8503920" y="3291840"/>
            <a:ext cx="2834640" cy="365760"/>
          </a:xfrm>
          <a:prstGeom prst="rect">
            <a:avLst/>
          </a:prstGeom>
          <a:noFill/>
          <a:ln/>
        </p:spPr>
        <p:txBody>
          <a:bodyPr wrap="square" lIns="0" tIns="0" rIns="0" bIns="0" rtlCol="0" anchor="ctr"/>
          <a:lstStyle/>
          <a:p>
            <a:pPr indent="0" marL="0">
              <a:buNone/>
            </a:pPr>
            <a:r>
              <a:rPr lang="en-US" sz="1500" b="1" dirty="0">
                <a:solidFill>
                  <a:srgbClr val="F5F7FA"/>
                </a:solidFill>
                <a:latin typeface="Calibri" pitchFamily="34" charset="0"/>
                <a:ea typeface="Calibri" pitchFamily="34" charset="-122"/>
                <a:cs typeface="Calibri" pitchFamily="34" charset="-120"/>
              </a:rPr>
              <a:t>Uma Ma'am</a:t>
            </a:r>
            <a:endParaRPr lang="en-US" sz="1500" dirty="0"/>
          </a:p>
        </p:txBody>
      </p:sp>
      <p:sp>
        <p:nvSpPr>
          <p:cNvPr id="13" name="Text 11"/>
          <p:cNvSpPr/>
          <p:nvPr/>
        </p:nvSpPr>
        <p:spPr>
          <a:xfrm>
            <a:off x="8503920" y="3657600"/>
            <a:ext cx="2834640" cy="32004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Project Guide / Reporting Officer</a:t>
            </a:r>
            <a:endParaRPr lang="en-US" sz="1050" dirty="0"/>
          </a:p>
        </p:txBody>
      </p:sp>
      <p:sp>
        <p:nvSpPr>
          <p:cNvPr id="14" name="Shape 12"/>
          <p:cNvSpPr/>
          <p:nvPr/>
        </p:nvSpPr>
        <p:spPr>
          <a:xfrm>
            <a:off x="8503920" y="4206240"/>
            <a:ext cx="2834640" cy="0"/>
          </a:xfrm>
          <a:prstGeom prst="line">
            <a:avLst/>
          </a:prstGeom>
          <a:noFill/>
          <a:ln w="12700">
            <a:solidFill>
              <a:srgbClr val="2B3546"/>
            </a:solidFill>
            <a:prstDash val="solid"/>
          </a:ln>
        </p:spPr>
      </p:sp>
      <p:sp>
        <p:nvSpPr>
          <p:cNvPr id="15" name="Text 13"/>
          <p:cNvSpPr/>
          <p:nvPr/>
        </p:nvSpPr>
        <p:spPr>
          <a:xfrm>
            <a:off x="8503920" y="4389120"/>
            <a:ext cx="283464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Submitted by</a:t>
            </a:r>
            <a:endParaRPr lang="en-US" sz="1050" dirty="0"/>
          </a:p>
        </p:txBody>
      </p:sp>
      <p:sp>
        <p:nvSpPr>
          <p:cNvPr id="16" name="Text 14"/>
          <p:cNvSpPr/>
          <p:nvPr/>
        </p:nvSpPr>
        <p:spPr>
          <a:xfrm>
            <a:off x="8503920" y="4663440"/>
            <a:ext cx="2834640" cy="365760"/>
          </a:xfrm>
          <a:prstGeom prst="rect">
            <a:avLst/>
          </a:prstGeom>
          <a:noFill/>
          <a:ln/>
        </p:spPr>
        <p:txBody>
          <a:bodyPr wrap="square" lIns="0" tIns="0" rIns="0" bIns="0" rtlCol="0" anchor="ctr"/>
          <a:lstStyle/>
          <a:p>
            <a:pPr indent="0" marL="0">
              <a:buNone/>
            </a:pPr>
            <a:r>
              <a:rPr lang="en-US" sz="1500" b="1" dirty="0">
                <a:solidFill>
                  <a:srgbClr val="F5F7FA"/>
                </a:solidFill>
                <a:latin typeface="Calibri" pitchFamily="34" charset="0"/>
                <a:ea typeface="Calibri" pitchFamily="34" charset="-122"/>
                <a:cs typeface="Calibri" pitchFamily="34" charset="-120"/>
              </a:rPr>
              <a:t>Sarthak Verma</a:t>
            </a:r>
            <a:endParaRPr lang="en-US" sz="1500" dirty="0"/>
          </a:p>
        </p:txBody>
      </p:sp>
      <p:sp>
        <p:nvSpPr>
          <p:cNvPr id="17" name="Text 15"/>
          <p:cNvSpPr/>
          <p:nvPr/>
        </p:nvSpPr>
        <p:spPr>
          <a:xfrm>
            <a:off x="8503920" y="5029200"/>
            <a:ext cx="2834640" cy="32004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Intern, Central Electronics Limited</a:t>
            </a:r>
            <a:endParaRPr lang="en-US" sz="1050" dirty="0"/>
          </a:p>
        </p:txBody>
      </p:sp>
      <p:sp>
        <p:nvSpPr>
          <p:cNvPr id="18" name="Text 16"/>
          <p:cNvSpPr/>
          <p:nvPr/>
        </p:nvSpPr>
        <p:spPr>
          <a:xfrm>
            <a:off x="457200" y="6537960"/>
            <a:ext cx="86868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CEL Website Redesign  |  OTP Authentication &amp; Complaint Management System</a:t>
            </a:r>
            <a:endParaRPr lang="en-US" sz="900" dirty="0"/>
          </a:p>
        </p:txBody>
      </p:sp>
      <p:sp>
        <p:nvSpPr>
          <p:cNvPr id="19" name="Text 17"/>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2026-08-29T14:54:54Z</dcterms:created>
  <dcterms:modified xsi:type="dcterms:W3CDTF">2026-08-29T14:54:54Z</dcterms:modified>
</cp:coreProperties>
</file>